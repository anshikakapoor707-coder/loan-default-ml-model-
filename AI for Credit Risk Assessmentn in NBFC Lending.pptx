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5"/>
  </p:notesMasterIdLst>
  <p:sldIdLst>
    <p:sldId id="256" r:id="rId2"/>
    <p:sldId id="257" r:id="rId3"/>
    <p:sldId id="258" r:id="rId4"/>
    <p:sldId id="259" r:id="rId5"/>
    <p:sldId id="260" r:id="rId6"/>
    <p:sldId id="261" r:id="rId7"/>
    <p:sldId id="262" r:id="rId8"/>
    <p:sldId id="266" r:id="rId9"/>
    <p:sldId id="267" r:id="rId10"/>
    <p:sldId id="268" r:id="rId11"/>
    <p:sldId id="269" r:id="rId12"/>
    <p:sldId id="270" r:id="rId13"/>
    <p:sldId id="271" r:id="rId14"/>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F9C897-5D65-4D1F-BBE4-BDA58BF1A5D1}">
  <a:tblStyle styleId="{12F9C897-5D65-4D1F-BBE4-BDA58BF1A5D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8" name="Google Shape;58;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 name="Google Shape;88;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9" name="Google Shape;89;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4" name="Google Shape;114;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5" name="Google Shape;115;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30" name="Google Shape;13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69" name="Google Shape;169;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5" name="Google Shape;195;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96" name="Google Shape;196;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7" name="Google Shape;287;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88" name="Google Shape;288;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9" name="Google Shape;309;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10" name="Google Shape;310;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2" name="Google Shape;342;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43" name="Google Shape;343;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5" name="Google Shape;355;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56" name="Google Shape;356;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5" name="Google Shape;375;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76" name="Google Shape;376;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409e86458fc_1_21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409e86458fc_1_21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11"/>
        <p:cNvGrpSpPr/>
        <p:nvPr/>
      </p:nvGrpSpPr>
      <p:grpSpPr>
        <a:xfrm>
          <a:off x="0" y="0"/>
          <a:ext cx="0" cy="0"/>
          <a:chOff x="0" y="0"/>
          <a:chExt cx="0" cy="0"/>
        </a:xfrm>
      </p:grpSpPr>
      <p:sp>
        <p:nvSpPr>
          <p:cNvPr id="12" name="Google Shape;12;p3"/>
          <p:cNvSpPr/>
          <p:nvPr/>
        </p:nvSpPr>
        <p:spPr>
          <a:xfrm>
            <a:off x="8572500" y="-952500"/>
            <a:ext cx="5715000" cy="5715000"/>
          </a:xfrm>
          <a:prstGeom prst="ellipse">
            <a:avLst/>
          </a:prstGeom>
          <a:solidFill>
            <a:srgbClr val="141B4D">
              <a:alpha val="60000"/>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 name="Google Shape;13;p3"/>
          <p:cNvSpPr/>
          <p:nvPr/>
        </p:nvSpPr>
        <p:spPr>
          <a:xfrm>
            <a:off x="762000" y="1047750"/>
            <a:ext cx="4191000" cy="324000"/>
          </a:xfrm>
          <a:prstGeom prst="roundRect">
            <a:avLst>
              <a:gd name="adj" fmla="val 50000"/>
            </a:avLst>
          </a:prstGeom>
          <a:solidFill>
            <a:srgbClr val="141B4D"/>
          </a:solidFill>
          <a:ln w="9525" cap="flat" cmpd="sng">
            <a:solidFill>
              <a:srgbClr val="C89B3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 name="Google Shape;14;p3"/>
          <p:cNvSpPr/>
          <p:nvPr/>
        </p:nvSpPr>
        <p:spPr>
          <a:xfrm>
            <a:off x="-952500" y="4286250"/>
            <a:ext cx="4762500" cy="4762500"/>
          </a:xfrm>
          <a:prstGeom prst="ellipse">
            <a:avLst/>
          </a:prstGeom>
          <a:solidFill>
            <a:srgbClr val="141B4D">
              <a:alpha val="40000"/>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 name="Google Shape;15;p3"/>
          <p:cNvSpPr txBox="1"/>
          <p:nvPr/>
        </p:nvSpPr>
        <p:spPr>
          <a:xfrm>
            <a:off x="914400" y="1047750"/>
            <a:ext cx="3886200" cy="324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i="0">
                <a:solidFill>
                  <a:srgbClr val="C89B3C"/>
                </a:solidFill>
                <a:latin typeface="Calibri"/>
                <a:ea typeface="Calibri"/>
                <a:cs typeface="Calibri"/>
                <a:sym typeface="Calibri"/>
              </a:rPr>
              <a:t>BUSINESS AI/ML CASE STUDY • PROMPT PORTFOLIO</a:t>
            </a:r>
            <a:endParaRPr sz="1100" b="1" i="0">
              <a:solidFill>
                <a:srgbClr val="C89B3C"/>
              </a:solidFill>
              <a:latin typeface="Calibri"/>
              <a:ea typeface="Calibri"/>
              <a:cs typeface="Calibri"/>
              <a:sym typeface="Calibri"/>
            </a:endParaRPr>
          </a:p>
        </p:txBody>
      </p:sp>
      <p:sp>
        <p:nvSpPr>
          <p:cNvPr id="16" name="Google Shape;16;p3"/>
          <p:cNvSpPr txBox="1"/>
          <p:nvPr/>
        </p:nvSpPr>
        <p:spPr>
          <a:xfrm>
            <a:off x="762000" y="1600200"/>
            <a:ext cx="5905500" cy="12384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3910" b="1" i="0">
                <a:solidFill>
                  <a:srgbClr val="FFFFFF"/>
                </a:solidFill>
                <a:latin typeface="Cambria"/>
                <a:ea typeface="Cambria"/>
                <a:cs typeface="Cambria"/>
                <a:sym typeface="Cambria"/>
              </a:rPr>
              <a:t>AI for Credit Risk Assessment</a:t>
            </a:r>
            <a:endParaRPr sz="3910" b="1" i="0">
              <a:solidFill>
                <a:srgbClr val="FFFFFF"/>
              </a:solidFill>
              <a:latin typeface="Cambria"/>
              <a:ea typeface="Cambria"/>
              <a:cs typeface="Cambria"/>
              <a:sym typeface="Cambria"/>
            </a:endParaRPr>
          </a:p>
        </p:txBody>
      </p:sp>
      <p:sp>
        <p:nvSpPr>
          <p:cNvPr id="17" name="Google Shape;17;p3"/>
          <p:cNvSpPr txBox="1"/>
          <p:nvPr/>
        </p:nvSpPr>
        <p:spPr>
          <a:xfrm>
            <a:off x="762000" y="2933700"/>
            <a:ext cx="5715000" cy="762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800" b="0" i="1">
                <a:solidFill>
                  <a:srgbClr val="CADCFC"/>
                </a:solidFill>
                <a:latin typeface="Calibri"/>
                <a:ea typeface="Calibri"/>
                <a:cs typeface="Calibri"/>
                <a:sym typeface="Calibri"/>
              </a:rPr>
              <a:t>A Case Study on Loan Default Prediction in India's NBFC Lending Sector</a:t>
            </a:r>
            <a:endParaRPr sz="1800" b="0" i="1">
              <a:solidFill>
                <a:srgbClr val="CADCFC"/>
              </a:solidFill>
              <a:latin typeface="Calibri"/>
              <a:ea typeface="Calibri"/>
              <a:cs typeface="Calibri"/>
              <a:sym typeface="Calibri"/>
            </a:endParaRPr>
          </a:p>
        </p:txBody>
      </p:sp>
      <p:sp>
        <p:nvSpPr>
          <p:cNvPr id="18" name="Google Shape;18;p3"/>
          <p:cNvSpPr/>
          <p:nvPr/>
        </p:nvSpPr>
        <p:spPr>
          <a:xfrm>
            <a:off x="7143750" y="1047750"/>
            <a:ext cx="4286400" cy="4286400"/>
          </a:xfrm>
          <a:prstGeom prst="roundRect">
            <a:avLst>
              <a:gd name="adj" fmla="val 3555"/>
            </a:avLst>
          </a:prstGeom>
          <a:solidFill>
            <a:srgbClr val="141B4D"/>
          </a:solidFill>
          <a:ln w="14300" cap="flat" cmpd="sng">
            <a:solidFill>
              <a:srgbClr val="2E3C8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 name="Google Shape;19;p3"/>
          <p:cNvSpPr txBox="1"/>
          <p:nvPr/>
        </p:nvSpPr>
        <p:spPr>
          <a:xfrm>
            <a:off x="7524750" y="1352550"/>
            <a:ext cx="35244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i="0">
                <a:solidFill>
                  <a:srgbClr val="C89B3C"/>
                </a:solidFill>
                <a:latin typeface="Calibri"/>
                <a:ea typeface="Calibri"/>
                <a:cs typeface="Calibri"/>
                <a:sym typeface="Calibri"/>
              </a:rPr>
              <a:t>PROJECT AUTHOR DETAILS</a:t>
            </a:r>
            <a:endParaRPr sz="1100" b="1" i="0">
              <a:solidFill>
                <a:srgbClr val="C89B3C"/>
              </a:solidFill>
              <a:latin typeface="Calibri"/>
              <a:ea typeface="Calibri"/>
              <a:cs typeface="Calibri"/>
              <a:sym typeface="Calibri"/>
            </a:endParaRPr>
          </a:p>
        </p:txBody>
      </p:sp>
      <p:cxnSp>
        <p:nvCxnSpPr>
          <p:cNvPr id="20" name="Google Shape;20;p3"/>
          <p:cNvCxnSpPr/>
          <p:nvPr/>
        </p:nvCxnSpPr>
        <p:spPr>
          <a:xfrm>
            <a:off x="7524750" y="1733550"/>
            <a:ext cx="3524400" cy="0"/>
          </a:xfrm>
          <a:prstGeom prst="straightConnector1">
            <a:avLst/>
          </a:prstGeom>
          <a:solidFill>
            <a:srgbClr val="FFFFFF"/>
          </a:solidFill>
          <a:ln w="9525" cap="flat" cmpd="sng">
            <a:solidFill>
              <a:srgbClr val="2E3C85"/>
            </a:solidFill>
            <a:prstDash val="solid"/>
            <a:round/>
            <a:headEnd type="none" w="sm" len="sm"/>
            <a:tailEnd type="none" w="sm" len="sm"/>
          </a:ln>
        </p:spPr>
      </p:cxnSp>
      <p:grpSp>
        <p:nvGrpSpPr>
          <p:cNvPr id="21" name="Google Shape;21;p3"/>
          <p:cNvGrpSpPr/>
          <p:nvPr/>
        </p:nvGrpSpPr>
        <p:grpSpPr>
          <a:xfrm>
            <a:off x="7524750" y="1905000"/>
            <a:ext cx="3524400" cy="3143400"/>
            <a:chOff x="0" y="0"/>
            <a:chExt cx="3524400" cy="3143400"/>
          </a:xfrm>
        </p:grpSpPr>
        <p:sp>
          <p:nvSpPr>
            <p:cNvPr id="22" name="Google Shape;22;p3"/>
            <p:cNvSpPr/>
            <p:nvPr/>
          </p:nvSpPr>
          <p:spPr>
            <a:xfrm>
              <a:off x="0" y="0"/>
              <a:ext cx="3524400" cy="514500"/>
            </a:xfrm>
            <a:prstGeom prst="roundRect">
              <a:avLst>
                <a:gd name="adj" fmla="val 14814"/>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 name="Google Shape;23;p3"/>
            <p:cNvSpPr txBox="1"/>
            <p:nvPr/>
          </p:nvSpPr>
          <p:spPr>
            <a:xfrm>
              <a:off x="152400" y="76200"/>
              <a:ext cx="3219600" cy="362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900" b="1" dirty="0">
                  <a:solidFill>
                    <a:srgbClr val="8C98C4"/>
                  </a:solidFill>
                  <a:latin typeface="Calibri"/>
                  <a:ea typeface="Calibri"/>
                  <a:cs typeface="Calibri"/>
                  <a:sym typeface="Calibri"/>
                </a:rPr>
                <a:t>COURSE </a:t>
              </a:r>
              <a:endParaRPr sz="9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300" b="1" dirty="0">
                  <a:solidFill>
                    <a:srgbClr val="FFFFFF"/>
                  </a:solidFill>
                  <a:latin typeface="Calibri"/>
                  <a:ea typeface="Calibri"/>
                  <a:cs typeface="Calibri"/>
                  <a:sym typeface="Calibri"/>
                </a:rPr>
                <a:t> AI &amp; ML</a:t>
              </a:r>
              <a:endParaRPr sz="1300" b="1" dirty="0">
                <a:solidFill>
                  <a:srgbClr val="FFFFFF"/>
                </a:solidFill>
                <a:latin typeface="Calibri"/>
                <a:ea typeface="Calibri"/>
                <a:cs typeface="Calibri"/>
                <a:sym typeface="Calibri"/>
              </a:endParaRPr>
            </a:p>
          </p:txBody>
        </p:sp>
        <p:sp>
          <p:nvSpPr>
            <p:cNvPr id="24" name="Google Shape;24;p3"/>
            <p:cNvSpPr txBox="1"/>
            <p:nvPr/>
          </p:nvSpPr>
          <p:spPr>
            <a:xfrm>
              <a:off x="0" y="666750"/>
              <a:ext cx="35244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rgbClr val="C89B3C"/>
                  </a:solidFill>
                  <a:latin typeface="Calibri"/>
                  <a:ea typeface="Calibri"/>
                  <a:cs typeface="Calibri"/>
                  <a:sym typeface="Calibri"/>
                </a:rPr>
                <a:t>PROJECT TEAM MEMBERS (6)</a:t>
              </a:r>
              <a:endParaRPr sz="1000" b="1">
                <a:solidFill>
                  <a:srgbClr val="C89B3C"/>
                </a:solidFill>
                <a:latin typeface="Calibri"/>
                <a:ea typeface="Calibri"/>
                <a:cs typeface="Calibri"/>
                <a:sym typeface="Calibri"/>
              </a:endParaRPr>
            </a:p>
          </p:txBody>
        </p:sp>
        <p:grpSp>
          <p:nvGrpSpPr>
            <p:cNvPr id="25" name="Google Shape;25;p3"/>
            <p:cNvGrpSpPr/>
            <p:nvPr/>
          </p:nvGrpSpPr>
          <p:grpSpPr>
            <a:xfrm>
              <a:off x="0" y="952500"/>
              <a:ext cx="1695600" cy="666900"/>
              <a:chOff x="0" y="0"/>
              <a:chExt cx="1695600" cy="666900"/>
            </a:xfrm>
          </p:grpSpPr>
          <p:sp>
            <p:nvSpPr>
              <p:cNvPr id="26" name="Google Shape;26;p3"/>
              <p:cNvSpPr/>
              <p:nvPr/>
            </p:nvSpPr>
            <p:spPr>
              <a:xfrm>
                <a:off x="0" y="0"/>
                <a:ext cx="1695600" cy="666900"/>
              </a:xfrm>
              <a:prstGeom prst="roundRect">
                <a:avLst>
                  <a:gd name="adj" fmla="val 8571"/>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 name="Google Shape;27;p3"/>
              <p:cNvSpPr txBox="1"/>
              <p:nvPr/>
            </p:nvSpPr>
            <p:spPr>
              <a:xfrm>
                <a:off x="114300" y="95250"/>
                <a:ext cx="1467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1" dirty="0">
                    <a:solidFill>
                      <a:srgbClr val="8C98C4"/>
                    </a:solidFill>
                    <a:latin typeface="Calibri"/>
                    <a:ea typeface="Calibri"/>
                    <a:cs typeface="Calibri"/>
                    <a:sym typeface="Calibri"/>
                  </a:rPr>
                  <a:t>MEMBER 1</a:t>
                </a:r>
                <a:endParaRPr sz="8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200" b="1" dirty="0">
                    <a:solidFill>
                      <a:srgbClr val="FFFFFF"/>
                    </a:solidFill>
                    <a:latin typeface="Calibri"/>
                    <a:ea typeface="Calibri"/>
                    <a:cs typeface="Calibri"/>
                    <a:sym typeface="Calibri"/>
                  </a:rPr>
                  <a:t>Anshika Kapoor</a:t>
                </a:r>
                <a:endParaRPr sz="1200" b="1" dirty="0">
                  <a:solidFill>
                    <a:srgbClr val="FFFFFF"/>
                  </a:solidFill>
                  <a:latin typeface="Calibri"/>
                  <a:ea typeface="Calibri"/>
                  <a:cs typeface="Calibri"/>
                  <a:sym typeface="Calibri"/>
                </a:endParaRPr>
              </a:p>
              <a:p>
                <a:pPr marL="0" lvl="0" indent="0" algn="l" rtl="0">
                  <a:spcBef>
                    <a:spcPts val="0"/>
                  </a:spcBef>
                  <a:spcAft>
                    <a:spcPts val="0"/>
                  </a:spcAft>
                  <a:buNone/>
                </a:pPr>
                <a:r>
                  <a:rPr lang="en-US" sz="900" dirty="0">
                    <a:solidFill>
                      <a:srgbClr val="CADCFC"/>
                    </a:solidFill>
                    <a:latin typeface="Calibri"/>
                    <a:ea typeface="Calibri"/>
                    <a:cs typeface="Calibri"/>
                    <a:sym typeface="Calibri"/>
                  </a:rPr>
                  <a:t>Roll No: 2520992536</a:t>
                </a:r>
                <a:endParaRPr sz="900" dirty="0">
                  <a:solidFill>
                    <a:srgbClr val="CADCFC"/>
                  </a:solidFill>
                  <a:latin typeface="Calibri"/>
                  <a:ea typeface="Calibri"/>
                  <a:cs typeface="Calibri"/>
                  <a:sym typeface="Calibri"/>
                </a:endParaRPr>
              </a:p>
            </p:txBody>
          </p:sp>
        </p:grpSp>
        <p:grpSp>
          <p:nvGrpSpPr>
            <p:cNvPr id="28" name="Google Shape;28;p3"/>
            <p:cNvGrpSpPr/>
            <p:nvPr/>
          </p:nvGrpSpPr>
          <p:grpSpPr>
            <a:xfrm>
              <a:off x="1828800" y="952500"/>
              <a:ext cx="1695600" cy="666900"/>
              <a:chOff x="0" y="0"/>
              <a:chExt cx="1695600" cy="666900"/>
            </a:xfrm>
          </p:grpSpPr>
          <p:sp>
            <p:nvSpPr>
              <p:cNvPr id="29" name="Google Shape;29;p3"/>
              <p:cNvSpPr/>
              <p:nvPr/>
            </p:nvSpPr>
            <p:spPr>
              <a:xfrm>
                <a:off x="0" y="0"/>
                <a:ext cx="1695600" cy="666900"/>
              </a:xfrm>
              <a:prstGeom prst="roundRect">
                <a:avLst>
                  <a:gd name="adj" fmla="val 8571"/>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 name="Google Shape;30;p3"/>
              <p:cNvSpPr txBox="1"/>
              <p:nvPr/>
            </p:nvSpPr>
            <p:spPr>
              <a:xfrm>
                <a:off x="114300" y="95250"/>
                <a:ext cx="1467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1" dirty="0">
                    <a:solidFill>
                      <a:srgbClr val="8C98C4"/>
                    </a:solidFill>
                    <a:latin typeface="Calibri"/>
                    <a:ea typeface="Calibri"/>
                    <a:cs typeface="Calibri"/>
                    <a:sym typeface="Calibri"/>
                  </a:rPr>
                  <a:t>MEMBER 2</a:t>
                </a:r>
                <a:endParaRPr sz="8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200" b="1" dirty="0">
                    <a:solidFill>
                      <a:srgbClr val="FFFFFF"/>
                    </a:solidFill>
                    <a:latin typeface="Calibri"/>
                    <a:ea typeface="Calibri"/>
                    <a:cs typeface="Calibri"/>
                    <a:sym typeface="Calibri"/>
                  </a:rPr>
                  <a:t>Aditya Thakur</a:t>
                </a:r>
                <a:endParaRPr sz="1200" b="1" dirty="0">
                  <a:solidFill>
                    <a:srgbClr val="FFFFFF"/>
                  </a:solidFill>
                  <a:latin typeface="Calibri"/>
                  <a:ea typeface="Calibri"/>
                  <a:cs typeface="Calibri"/>
                  <a:sym typeface="Calibri"/>
                </a:endParaRPr>
              </a:p>
              <a:p>
                <a:pPr marL="0" lvl="0" indent="0" algn="l" rtl="0">
                  <a:spcBef>
                    <a:spcPts val="0"/>
                  </a:spcBef>
                  <a:spcAft>
                    <a:spcPts val="0"/>
                  </a:spcAft>
                  <a:buNone/>
                </a:pPr>
                <a:r>
                  <a:rPr lang="en-US" sz="900" dirty="0">
                    <a:solidFill>
                      <a:srgbClr val="CADCFC"/>
                    </a:solidFill>
                    <a:latin typeface="Calibri"/>
                    <a:ea typeface="Calibri"/>
                    <a:cs typeface="Calibri"/>
                    <a:sym typeface="Calibri"/>
                  </a:rPr>
                  <a:t>Roll No: 2520992515</a:t>
                </a:r>
                <a:endParaRPr sz="900" dirty="0">
                  <a:solidFill>
                    <a:srgbClr val="CADCFC"/>
                  </a:solidFill>
                  <a:latin typeface="Calibri"/>
                  <a:ea typeface="Calibri"/>
                  <a:cs typeface="Calibri"/>
                  <a:sym typeface="Calibri"/>
                </a:endParaRPr>
              </a:p>
            </p:txBody>
          </p:sp>
        </p:grpSp>
        <p:grpSp>
          <p:nvGrpSpPr>
            <p:cNvPr id="31" name="Google Shape;31;p3"/>
            <p:cNvGrpSpPr/>
            <p:nvPr/>
          </p:nvGrpSpPr>
          <p:grpSpPr>
            <a:xfrm>
              <a:off x="0" y="1714500"/>
              <a:ext cx="1695600" cy="666900"/>
              <a:chOff x="0" y="0"/>
              <a:chExt cx="1695600" cy="666900"/>
            </a:xfrm>
          </p:grpSpPr>
          <p:sp>
            <p:nvSpPr>
              <p:cNvPr id="32" name="Google Shape;32;p3"/>
              <p:cNvSpPr/>
              <p:nvPr/>
            </p:nvSpPr>
            <p:spPr>
              <a:xfrm>
                <a:off x="0" y="0"/>
                <a:ext cx="1695600" cy="666900"/>
              </a:xfrm>
              <a:prstGeom prst="roundRect">
                <a:avLst>
                  <a:gd name="adj" fmla="val 8571"/>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 name="Google Shape;33;p3"/>
              <p:cNvSpPr txBox="1"/>
              <p:nvPr/>
            </p:nvSpPr>
            <p:spPr>
              <a:xfrm>
                <a:off x="114300" y="84740"/>
                <a:ext cx="1467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1" dirty="0">
                    <a:solidFill>
                      <a:srgbClr val="8C98C4"/>
                    </a:solidFill>
                    <a:latin typeface="Calibri"/>
                    <a:ea typeface="Calibri"/>
                    <a:cs typeface="Calibri"/>
                    <a:sym typeface="Calibri"/>
                  </a:rPr>
                  <a:t>MEMBER 3</a:t>
                </a:r>
                <a:endParaRPr sz="8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200" b="1" dirty="0">
                    <a:solidFill>
                      <a:srgbClr val="FFFFFF"/>
                    </a:solidFill>
                    <a:latin typeface="Calibri"/>
                    <a:ea typeface="Calibri"/>
                    <a:cs typeface="Calibri"/>
                    <a:sym typeface="Calibri"/>
                  </a:rPr>
                  <a:t>Ashpreet Kaur</a:t>
                </a:r>
                <a:endParaRPr sz="1200" b="1" dirty="0">
                  <a:solidFill>
                    <a:srgbClr val="FFFFFF"/>
                  </a:solidFill>
                  <a:latin typeface="Calibri"/>
                  <a:ea typeface="Calibri"/>
                  <a:cs typeface="Calibri"/>
                  <a:sym typeface="Calibri"/>
                </a:endParaRPr>
              </a:p>
              <a:p>
                <a:pPr lvl="0"/>
                <a:r>
                  <a:rPr lang="en-US" sz="900" dirty="0">
                    <a:solidFill>
                      <a:srgbClr val="CADCFC"/>
                    </a:solidFill>
                    <a:latin typeface="Calibri"/>
                    <a:ea typeface="Calibri"/>
                    <a:cs typeface="Calibri"/>
                    <a:sym typeface="Calibri"/>
                  </a:rPr>
                  <a:t>Roll No: 2520992555</a:t>
                </a:r>
                <a:endParaRPr sz="900" dirty="0">
                  <a:solidFill>
                    <a:srgbClr val="CADCFC"/>
                  </a:solidFill>
                  <a:latin typeface="Calibri"/>
                  <a:ea typeface="Calibri"/>
                  <a:cs typeface="Calibri"/>
                  <a:sym typeface="Calibri"/>
                </a:endParaRPr>
              </a:p>
            </p:txBody>
          </p:sp>
        </p:grpSp>
        <p:grpSp>
          <p:nvGrpSpPr>
            <p:cNvPr id="34" name="Google Shape;34;p3"/>
            <p:cNvGrpSpPr/>
            <p:nvPr/>
          </p:nvGrpSpPr>
          <p:grpSpPr>
            <a:xfrm>
              <a:off x="1828800" y="1714500"/>
              <a:ext cx="1695600" cy="666900"/>
              <a:chOff x="0" y="0"/>
              <a:chExt cx="1695600" cy="666900"/>
            </a:xfrm>
          </p:grpSpPr>
          <p:sp>
            <p:nvSpPr>
              <p:cNvPr id="35" name="Google Shape;35;p3"/>
              <p:cNvSpPr/>
              <p:nvPr/>
            </p:nvSpPr>
            <p:spPr>
              <a:xfrm>
                <a:off x="0" y="0"/>
                <a:ext cx="1695600" cy="666900"/>
              </a:xfrm>
              <a:prstGeom prst="roundRect">
                <a:avLst>
                  <a:gd name="adj" fmla="val 8571"/>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 name="Google Shape;36;p3"/>
              <p:cNvSpPr txBox="1"/>
              <p:nvPr/>
            </p:nvSpPr>
            <p:spPr>
              <a:xfrm>
                <a:off x="114300" y="95250"/>
                <a:ext cx="1467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1" dirty="0">
                    <a:solidFill>
                      <a:srgbClr val="8C98C4"/>
                    </a:solidFill>
                    <a:latin typeface="Calibri"/>
                    <a:ea typeface="Calibri"/>
                    <a:cs typeface="Calibri"/>
                    <a:sym typeface="Calibri"/>
                  </a:rPr>
                  <a:t>MEMBER 4</a:t>
                </a:r>
                <a:endParaRPr sz="8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200" b="1" dirty="0">
                    <a:solidFill>
                      <a:srgbClr val="FFFFFF"/>
                    </a:solidFill>
                    <a:latin typeface="Calibri"/>
                    <a:ea typeface="Calibri"/>
                    <a:cs typeface="Calibri"/>
                    <a:sym typeface="Calibri"/>
                  </a:rPr>
                  <a:t>Khushmeet Kaur</a:t>
                </a:r>
                <a:endParaRPr sz="1200" b="1" dirty="0">
                  <a:solidFill>
                    <a:srgbClr val="FFFFFF"/>
                  </a:solidFill>
                  <a:latin typeface="Calibri"/>
                  <a:ea typeface="Calibri"/>
                  <a:cs typeface="Calibri"/>
                  <a:sym typeface="Calibri"/>
                </a:endParaRPr>
              </a:p>
              <a:p>
                <a:pPr lvl="0"/>
                <a:r>
                  <a:rPr lang="en-US" sz="900" dirty="0">
                    <a:solidFill>
                      <a:srgbClr val="CADCFC"/>
                    </a:solidFill>
                    <a:latin typeface="Calibri"/>
                    <a:ea typeface="Calibri"/>
                    <a:cs typeface="Calibri"/>
                    <a:sym typeface="Calibri"/>
                  </a:rPr>
                  <a:t>Roll No: 2520992658</a:t>
                </a:r>
                <a:endParaRPr sz="900" dirty="0">
                  <a:solidFill>
                    <a:srgbClr val="CADCFC"/>
                  </a:solidFill>
                  <a:latin typeface="Calibri"/>
                  <a:ea typeface="Calibri"/>
                  <a:cs typeface="Calibri"/>
                  <a:sym typeface="Calibri"/>
                </a:endParaRPr>
              </a:p>
            </p:txBody>
          </p:sp>
        </p:grpSp>
        <p:grpSp>
          <p:nvGrpSpPr>
            <p:cNvPr id="37" name="Google Shape;37;p3"/>
            <p:cNvGrpSpPr/>
            <p:nvPr/>
          </p:nvGrpSpPr>
          <p:grpSpPr>
            <a:xfrm>
              <a:off x="0" y="2476500"/>
              <a:ext cx="1695600" cy="666900"/>
              <a:chOff x="0" y="0"/>
              <a:chExt cx="1695600" cy="666900"/>
            </a:xfrm>
          </p:grpSpPr>
          <p:sp>
            <p:nvSpPr>
              <p:cNvPr id="38" name="Google Shape;38;p3"/>
              <p:cNvSpPr/>
              <p:nvPr/>
            </p:nvSpPr>
            <p:spPr>
              <a:xfrm>
                <a:off x="0" y="0"/>
                <a:ext cx="1695600" cy="666900"/>
              </a:xfrm>
              <a:prstGeom prst="roundRect">
                <a:avLst>
                  <a:gd name="adj" fmla="val 8571"/>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 name="Google Shape;39;p3"/>
              <p:cNvSpPr txBox="1"/>
              <p:nvPr/>
            </p:nvSpPr>
            <p:spPr>
              <a:xfrm>
                <a:off x="114300" y="95250"/>
                <a:ext cx="1467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1" dirty="0">
                    <a:solidFill>
                      <a:srgbClr val="8C98C4"/>
                    </a:solidFill>
                    <a:latin typeface="Calibri"/>
                    <a:ea typeface="Calibri"/>
                    <a:cs typeface="Calibri"/>
                    <a:sym typeface="Calibri"/>
                  </a:rPr>
                  <a:t>MEMBER 5</a:t>
                </a:r>
                <a:endParaRPr sz="8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200" b="1" dirty="0">
                    <a:solidFill>
                      <a:srgbClr val="FFFFFF"/>
                    </a:solidFill>
                    <a:latin typeface="Calibri"/>
                    <a:ea typeface="Calibri"/>
                    <a:cs typeface="Calibri"/>
                    <a:sym typeface="Calibri"/>
                  </a:rPr>
                  <a:t>Jashanpreet Kaur</a:t>
                </a:r>
                <a:endParaRPr sz="1200" b="1" dirty="0">
                  <a:solidFill>
                    <a:srgbClr val="FFFFFF"/>
                  </a:solidFill>
                  <a:latin typeface="Calibri"/>
                  <a:ea typeface="Calibri"/>
                  <a:cs typeface="Calibri"/>
                  <a:sym typeface="Calibri"/>
                </a:endParaRPr>
              </a:p>
              <a:p>
                <a:pPr lvl="0"/>
                <a:r>
                  <a:rPr lang="en-US" sz="900" dirty="0">
                    <a:solidFill>
                      <a:srgbClr val="CADCFC"/>
                    </a:solidFill>
                    <a:latin typeface="Calibri"/>
                    <a:ea typeface="Calibri"/>
                    <a:cs typeface="Calibri"/>
                    <a:sym typeface="Calibri"/>
                  </a:rPr>
                  <a:t>Roll No: 2520992633</a:t>
                </a:r>
                <a:endParaRPr sz="900" dirty="0">
                  <a:solidFill>
                    <a:srgbClr val="CADCFC"/>
                  </a:solidFill>
                  <a:latin typeface="Calibri"/>
                  <a:ea typeface="Calibri"/>
                  <a:cs typeface="Calibri"/>
                  <a:sym typeface="Calibri"/>
                </a:endParaRPr>
              </a:p>
            </p:txBody>
          </p:sp>
        </p:grpSp>
        <p:grpSp>
          <p:nvGrpSpPr>
            <p:cNvPr id="40" name="Google Shape;40;p3"/>
            <p:cNvGrpSpPr/>
            <p:nvPr/>
          </p:nvGrpSpPr>
          <p:grpSpPr>
            <a:xfrm>
              <a:off x="1828800" y="2476500"/>
              <a:ext cx="1695600" cy="666900"/>
              <a:chOff x="0" y="0"/>
              <a:chExt cx="1695600" cy="666900"/>
            </a:xfrm>
          </p:grpSpPr>
          <p:sp>
            <p:nvSpPr>
              <p:cNvPr id="41" name="Google Shape;41;p3"/>
              <p:cNvSpPr/>
              <p:nvPr/>
            </p:nvSpPr>
            <p:spPr>
              <a:xfrm>
                <a:off x="0" y="0"/>
                <a:ext cx="1695600" cy="666900"/>
              </a:xfrm>
              <a:prstGeom prst="roundRect">
                <a:avLst>
                  <a:gd name="adj" fmla="val 8571"/>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 name="Google Shape;42;p3"/>
              <p:cNvSpPr txBox="1"/>
              <p:nvPr/>
            </p:nvSpPr>
            <p:spPr>
              <a:xfrm>
                <a:off x="114300" y="95250"/>
                <a:ext cx="1467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b="1" dirty="0">
                    <a:solidFill>
                      <a:srgbClr val="8C98C4"/>
                    </a:solidFill>
                    <a:latin typeface="Calibri"/>
                    <a:ea typeface="Calibri"/>
                    <a:cs typeface="Calibri"/>
                    <a:sym typeface="Calibri"/>
                  </a:rPr>
                  <a:t>MEMBER 6</a:t>
                </a:r>
                <a:endParaRPr sz="800" b="1" dirty="0">
                  <a:solidFill>
                    <a:srgbClr val="8C98C4"/>
                  </a:solidFill>
                  <a:latin typeface="Calibri"/>
                  <a:ea typeface="Calibri"/>
                  <a:cs typeface="Calibri"/>
                  <a:sym typeface="Calibri"/>
                </a:endParaRPr>
              </a:p>
              <a:p>
                <a:pPr marL="0" lvl="0" indent="0" algn="l" rtl="0">
                  <a:spcBef>
                    <a:spcPts val="0"/>
                  </a:spcBef>
                  <a:spcAft>
                    <a:spcPts val="0"/>
                  </a:spcAft>
                  <a:buNone/>
                </a:pPr>
                <a:r>
                  <a:rPr lang="en-US" sz="1200" b="1" dirty="0">
                    <a:solidFill>
                      <a:srgbClr val="FFFFFF"/>
                    </a:solidFill>
                    <a:latin typeface="Calibri"/>
                    <a:ea typeface="Calibri"/>
                    <a:cs typeface="Calibri"/>
                    <a:sym typeface="Calibri"/>
                  </a:rPr>
                  <a:t>Gaurav Chawla</a:t>
                </a:r>
                <a:endParaRPr sz="1200" b="1" dirty="0">
                  <a:solidFill>
                    <a:srgbClr val="FFFFFF"/>
                  </a:solidFill>
                  <a:latin typeface="Calibri"/>
                  <a:ea typeface="Calibri"/>
                  <a:cs typeface="Calibri"/>
                  <a:sym typeface="Calibri"/>
                </a:endParaRPr>
              </a:p>
              <a:p>
                <a:pPr lvl="0"/>
                <a:r>
                  <a:rPr lang="en-US" sz="900" dirty="0">
                    <a:solidFill>
                      <a:srgbClr val="CADCFC"/>
                    </a:solidFill>
                    <a:latin typeface="Calibri"/>
                    <a:ea typeface="Calibri"/>
                    <a:cs typeface="Calibri"/>
                    <a:sym typeface="Calibri"/>
                  </a:rPr>
                  <a:t>Roll No:  2520992594</a:t>
                </a:r>
                <a:endParaRPr sz="900" dirty="0">
                  <a:solidFill>
                    <a:srgbClr val="CADCFC"/>
                  </a:solidFill>
                  <a:latin typeface="Calibri"/>
                  <a:ea typeface="Calibri"/>
                  <a:cs typeface="Calibri"/>
                  <a:sym typeface="Calibri"/>
                </a:endParaRPr>
              </a:p>
            </p:txBody>
          </p:sp>
        </p:grpSp>
      </p:grpSp>
      <p:sp>
        <p:nvSpPr>
          <p:cNvPr id="100" name="Group Photo Placeholder"/>
          <p:cNvSpPr/>
          <p:nvPr/>
        </p:nvSpPr>
        <p:spPr>
          <a:xfrm>
            <a:off x="762000" y="4095750"/>
            <a:ext cx="5715000" cy="2241042"/>
          </a:xfrm>
          <a:prstGeom prst="roundRect">
            <a:avLst>
              <a:gd name="adj" fmla="val 9230"/>
            </a:avLst>
          </a:prstGeom>
          <a:solidFill>
            <a:srgbClr val="1B2260"/>
          </a:solidFill>
          <a:ln w="12700" cap="flat" cmpd="sng">
            <a:solidFill>
              <a:srgbClr val="C89B3C"/>
            </a:solidFill>
            <a:prstDash val="dash"/>
            <a:round/>
            <a:headEnd type="none" w="sm" len="sm"/>
            <a:tailEnd type="none" w="sm" len="sm"/>
          </a:ln>
        </p:spPr>
        <p:txBody>
          <a:bodyPr spcFirstLastPara="1" wrap="square" lIns="91440" tIns="0" rIns="91440" bIns="0" anchor="ctr" anchorCtr="0">
            <a:noAutofit/>
          </a:bodyPr>
          <a:lstStyle/>
          <a:p>
            <a:pPr marL="0" lvl="0" indent="0" algn="ctr" rtl="0">
              <a:spcBef>
                <a:spcPts val="0"/>
              </a:spcBef>
              <a:spcAft>
                <a:spcPts val="200"/>
              </a:spcAft>
              <a:buNone/>
            </a:pPr>
            <a:r>
              <a:rPr lang="en-US" sz="1200" b="1" i="0">
                <a:solidFill>
                  <a:srgbClr val="C89B3C"/>
                </a:solidFill>
                <a:latin typeface="Calibri"/>
                <a:ea typeface="Calibri"/>
                <a:cs typeface="Calibri"/>
                <a:sym typeface="Calibri"/>
              </a:rPr>
              <a:t>TEAM GROUP PHOTO</a:t>
            </a:r>
          </a:p>
          <a:p>
            <a:pPr marL="0" lvl="0" indent="0" algn="ctr" rtl="0">
              <a:spcBef>
                <a:spcPts val="0"/>
              </a:spcBef>
              <a:spcAft>
                <a:spcPts val="0"/>
              </a:spcAft>
              <a:buNone/>
            </a:pPr>
            <a:r>
              <a:rPr lang="en-US" sz="1000" b="0" i="1">
                <a:solidFill>
                  <a:srgbClr val="8C98C4"/>
                </a:solidFill>
                <a:latin typeface="Calibri"/>
                <a:ea typeface="Calibri"/>
                <a:cs typeface="Calibri"/>
                <a:sym typeface="Calibri"/>
              </a:rPr>
              <a:t>Placeholder — replace this box with your group photo</a:t>
            </a:r>
          </a:p>
        </p:txBody>
      </p:sp>
      <p:sp>
        <p:nvSpPr>
          <p:cNvPr id="53" name="Google Shape;53;p3"/>
          <p:cNvSpPr txBox="1"/>
          <p:nvPr/>
        </p:nvSpPr>
        <p:spPr>
          <a:xfrm>
            <a:off x="11475720" y="6473952"/>
            <a:ext cx="457200" cy="274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C98C4"/>
              </a:buClr>
              <a:buSzPts val="1000"/>
              <a:buFont typeface="Calibri"/>
              <a:buNone/>
            </a:pPr>
            <a:r>
              <a:rPr lang="en-US" sz="1000">
                <a:solidFill>
                  <a:srgbClr val="8C98C4"/>
                </a:solidFill>
                <a:latin typeface="Calibri"/>
                <a:ea typeface="Calibri"/>
                <a:cs typeface="Calibri"/>
                <a:sym typeface="Calibri"/>
              </a:rPr>
              <a:t>1</a:t>
            </a:r>
            <a:endParaRPr sz="1000">
              <a:solidFill>
                <a:schemeClr val="dk1"/>
              </a:solidFill>
              <a:latin typeface="Calibri"/>
              <a:ea typeface="Calibri"/>
              <a:cs typeface="Calibri"/>
              <a:sym typeface="Calibri"/>
            </a:endParaRPr>
          </a:p>
        </p:txBody>
      </p:sp>
      <p:sp>
        <p:nvSpPr>
          <p:cNvPr id="54" name="Google Shape;54;p3"/>
          <p:cNvSpPr txBox="1"/>
          <p:nvPr/>
        </p:nvSpPr>
        <p:spPr>
          <a:xfrm>
            <a:off x="457200" y="6473952"/>
            <a:ext cx="5486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6A8"/>
              </a:buClr>
              <a:buSzPts val="900"/>
              <a:buFont typeface="Calibri"/>
              <a:buNone/>
            </a:pPr>
            <a:r>
              <a:rPr lang="en-US" sz="900">
                <a:solidFill>
                  <a:srgbClr val="6B76A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sp>
        <p:nvSpPr>
          <p:cNvPr id="60" name="Google Shape;60;p4"/>
          <p:cNvSpPr txBox="1"/>
          <p:nvPr/>
        </p:nvSpPr>
        <p:spPr>
          <a:xfrm>
            <a:off x="548640" y="411480"/>
            <a:ext cx="73152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Industry Overview</a:t>
            </a:r>
            <a:endParaRPr sz="3200">
              <a:solidFill>
                <a:schemeClr val="dk1"/>
              </a:solidFill>
              <a:latin typeface="Calibri"/>
              <a:ea typeface="Calibri"/>
              <a:cs typeface="Calibri"/>
              <a:sym typeface="Calibri"/>
            </a:endParaRPr>
          </a:p>
        </p:txBody>
      </p:sp>
      <p:sp>
        <p:nvSpPr>
          <p:cNvPr id="61" name="Google Shape;61;p4"/>
          <p:cNvSpPr txBox="1"/>
          <p:nvPr/>
        </p:nvSpPr>
        <p:spPr>
          <a:xfrm>
            <a:off x="548640" y="932688"/>
            <a:ext cx="82296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India's NBFC Lending Sector</a:t>
            </a:r>
            <a:endParaRPr sz="1600">
              <a:solidFill>
                <a:schemeClr val="dk1"/>
              </a:solidFill>
              <a:latin typeface="Calibri"/>
              <a:ea typeface="Calibri"/>
              <a:cs typeface="Calibri"/>
              <a:sym typeface="Calibri"/>
            </a:endParaRPr>
          </a:p>
        </p:txBody>
      </p:sp>
      <p:grpSp>
        <p:nvGrpSpPr>
          <p:cNvPr id="62" name="Google Shape;62;p4"/>
          <p:cNvGrpSpPr/>
          <p:nvPr/>
        </p:nvGrpSpPr>
        <p:grpSpPr>
          <a:xfrm>
            <a:off x="552450" y="1447800"/>
            <a:ext cx="5429400" cy="1285800"/>
            <a:chOff x="0" y="0"/>
            <a:chExt cx="5429400" cy="1285800"/>
          </a:xfrm>
        </p:grpSpPr>
        <p:sp>
          <p:nvSpPr>
            <p:cNvPr id="63" name="Google Shape;63;p4"/>
            <p:cNvSpPr/>
            <p:nvPr/>
          </p:nvSpPr>
          <p:spPr>
            <a:xfrm>
              <a:off x="0" y="0"/>
              <a:ext cx="5429400" cy="1285800"/>
            </a:xfrm>
            <a:prstGeom prst="roundRect">
              <a:avLst>
                <a:gd name="adj" fmla="val 7407"/>
              </a:avLst>
            </a:prstGeom>
            <a:solidFill>
              <a:srgbClr val="F5F7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 name="Google Shape;64;p4"/>
            <p:cNvSpPr/>
            <p:nvPr/>
          </p:nvSpPr>
          <p:spPr>
            <a:xfrm>
              <a:off x="0" y="0"/>
              <a:ext cx="57300" cy="1285800"/>
            </a:xfrm>
            <a:prstGeom prst="roundRect">
              <a:avLst>
                <a:gd name="adj" fmla="val 50000"/>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 name="Google Shape;65;p4"/>
            <p:cNvSpPr txBox="1"/>
            <p:nvPr/>
          </p:nvSpPr>
          <p:spPr>
            <a:xfrm>
              <a:off x="228600" y="152400"/>
              <a:ext cx="5010300" cy="9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500" b="1">
                  <a:solidFill>
                    <a:srgbClr val="1E2761"/>
                  </a:solidFill>
                  <a:latin typeface="Cambria"/>
                  <a:ea typeface="Cambria"/>
                  <a:cs typeface="Cambria"/>
                  <a:sym typeface="Cambria"/>
                </a:rPr>
                <a:t>What they do</a:t>
              </a:r>
              <a:endParaRPr sz="1500" b="1">
                <a:solidFill>
                  <a:srgbClr val="1E2761"/>
                </a:solidFill>
                <a:latin typeface="Cambria"/>
                <a:ea typeface="Cambria"/>
                <a:cs typeface="Cambria"/>
                <a:sym typeface="Cambria"/>
              </a:endParaRPr>
            </a:p>
            <a:p>
              <a:pPr marL="0" lvl="0" indent="0" algn="l" rtl="0">
                <a:spcBef>
                  <a:spcPts val="450"/>
                </a:spcBef>
                <a:spcAft>
                  <a:spcPts val="0"/>
                </a:spcAft>
                <a:buNone/>
              </a:pPr>
              <a:r>
                <a:rPr lang="en-US" sz="1150">
                  <a:solidFill>
                    <a:srgbClr val="24284A"/>
                  </a:solidFill>
                  <a:latin typeface="Calibri"/>
                  <a:ea typeface="Calibri"/>
                  <a:cs typeface="Calibri"/>
                  <a:sym typeface="Calibri"/>
                </a:rPr>
                <a:t>Non-Banking Financial Companies (NBFCs) provide credit — personal, MSME, vehicle, gold and consumer-durable loans — often reaching borrowers traditional banks overlook.</a:t>
              </a:r>
              <a:endParaRPr sz="1150">
                <a:solidFill>
                  <a:srgbClr val="24284A"/>
                </a:solidFill>
                <a:latin typeface="Calibri"/>
                <a:ea typeface="Calibri"/>
                <a:cs typeface="Calibri"/>
                <a:sym typeface="Calibri"/>
              </a:endParaRPr>
            </a:p>
          </p:txBody>
        </p:sp>
      </p:grpSp>
      <p:grpSp>
        <p:nvGrpSpPr>
          <p:cNvPr id="66" name="Google Shape;66;p4"/>
          <p:cNvGrpSpPr/>
          <p:nvPr/>
        </p:nvGrpSpPr>
        <p:grpSpPr>
          <a:xfrm>
            <a:off x="552450" y="2876550"/>
            <a:ext cx="5429400" cy="1285800"/>
            <a:chOff x="0" y="0"/>
            <a:chExt cx="5429400" cy="1285800"/>
          </a:xfrm>
        </p:grpSpPr>
        <p:sp>
          <p:nvSpPr>
            <p:cNvPr id="67" name="Google Shape;67;p4"/>
            <p:cNvSpPr/>
            <p:nvPr/>
          </p:nvSpPr>
          <p:spPr>
            <a:xfrm>
              <a:off x="0" y="0"/>
              <a:ext cx="5429400" cy="1285800"/>
            </a:xfrm>
            <a:prstGeom prst="roundRect">
              <a:avLst>
                <a:gd name="adj" fmla="val 7407"/>
              </a:avLst>
            </a:prstGeom>
            <a:solidFill>
              <a:srgbClr val="F5F7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 name="Google Shape;68;p4"/>
            <p:cNvSpPr/>
            <p:nvPr/>
          </p:nvSpPr>
          <p:spPr>
            <a:xfrm>
              <a:off x="0" y="0"/>
              <a:ext cx="57300" cy="1285800"/>
            </a:xfrm>
            <a:prstGeom prst="roundRect">
              <a:avLst>
                <a:gd name="adj" fmla="val 50000"/>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 name="Google Shape;69;p4"/>
            <p:cNvSpPr txBox="1"/>
            <p:nvPr/>
          </p:nvSpPr>
          <p:spPr>
            <a:xfrm>
              <a:off x="228600" y="152400"/>
              <a:ext cx="5010300" cy="9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500" b="1">
                  <a:solidFill>
                    <a:srgbClr val="1E2761"/>
                  </a:solidFill>
                  <a:latin typeface="Cambria"/>
                  <a:ea typeface="Cambria"/>
                  <a:cs typeface="Cambria"/>
                  <a:sym typeface="Cambria"/>
                </a:rPr>
                <a:t>Who they serve</a:t>
              </a:r>
              <a:endParaRPr sz="1500" b="1">
                <a:solidFill>
                  <a:srgbClr val="1E2761"/>
                </a:solidFill>
                <a:latin typeface="Cambria"/>
                <a:ea typeface="Cambria"/>
                <a:cs typeface="Cambria"/>
                <a:sym typeface="Cambria"/>
              </a:endParaRPr>
            </a:p>
            <a:p>
              <a:pPr marL="0" lvl="0" indent="0" algn="l" rtl="0">
                <a:spcBef>
                  <a:spcPts val="450"/>
                </a:spcBef>
                <a:spcAft>
                  <a:spcPts val="0"/>
                </a:spcAft>
                <a:buNone/>
              </a:pPr>
              <a:r>
                <a:rPr lang="en-US" sz="1150">
                  <a:solidFill>
                    <a:srgbClr val="24284A"/>
                  </a:solidFill>
                  <a:latin typeface="Calibri"/>
                  <a:ea typeface="Calibri"/>
                  <a:cs typeface="Calibri"/>
                  <a:sym typeface="Calibri"/>
                </a:rPr>
                <a:t>Retail borrowers, small businesses and self-employed individuals, including many first-time and thin-credit-file customers.</a:t>
              </a:r>
              <a:endParaRPr sz="1150">
                <a:solidFill>
                  <a:srgbClr val="24284A"/>
                </a:solidFill>
                <a:latin typeface="Calibri"/>
                <a:ea typeface="Calibri"/>
                <a:cs typeface="Calibri"/>
                <a:sym typeface="Calibri"/>
              </a:endParaRPr>
            </a:p>
          </p:txBody>
        </p:sp>
      </p:grpSp>
      <p:grpSp>
        <p:nvGrpSpPr>
          <p:cNvPr id="70" name="Google Shape;70;p4"/>
          <p:cNvGrpSpPr/>
          <p:nvPr/>
        </p:nvGrpSpPr>
        <p:grpSpPr>
          <a:xfrm>
            <a:off x="552450" y="4305300"/>
            <a:ext cx="5429400" cy="1285800"/>
            <a:chOff x="0" y="0"/>
            <a:chExt cx="5429400" cy="1285800"/>
          </a:xfrm>
        </p:grpSpPr>
        <p:sp>
          <p:nvSpPr>
            <p:cNvPr id="71" name="Google Shape;71;p4"/>
            <p:cNvSpPr/>
            <p:nvPr/>
          </p:nvSpPr>
          <p:spPr>
            <a:xfrm>
              <a:off x="0" y="0"/>
              <a:ext cx="5429400" cy="1285800"/>
            </a:xfrm>
            <a:prstGeom prst="roundRect">
              <a:avLst>
                <a:gd name="adj" fmla="val 7407"/>
              </a:avLst>
            </a:prstGeom>
            <a:solidFill>
              <a:srgbClr val="F5F7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 name="Google Shape;72;p4"/>
            <p:cNvSpPr/>
            <p:nvPr/>
          </p:nvSpPr>
          <p:spPr>
            <a:xfrm>
              <a:off x="0" y="0"/>
              <a:ext cx="57300" cy="1285800"/>
            </a:xfrm>
            <a:prstGeom prst="roundRect">
              <a:avLst>
                <a:gd name="adj" fmla="val 50000"/>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 name="Google Shape;73;p4"/>
            <p:cNvSpPr txBox="1"/>
            <p:nvPr/>
          </p:nvSpPr>
          <p:spPr>
            <a:xfrm>
              <a:off x="228600" y="152400"/>
              <a:ext cx="5010300" cy="9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500" b="1">
                  <a:solidFill>
                    <a:srgbClr val="1E2761"/>
                  </a:solidFill>
                  <a:latin typeface="Cambria"/>
                  <a:ea typeface="Cambria"/>
                  <a:cs typeface="Cambria"/>
                  <a:sym typeface="Cambria"/>
                </a:rPr>
                <a:t>What they offer</a:t>
              </a:r>
              <a:endParaRPr sz="1500" b="1">
                <a:solidFill>
                  <a:srgbClr val="1E2761"/>
                </a:solidFill>
                <a:latin typeface="Cambria"/>
                <a:ea typeface="Cambria"/>
                <a:cs typeface="Cambria"/>
                <a:sym typeface="Cambria"/>
              </a:endParaRPr>
            </a:p>
            <a:p>
              <a:pPr marL="0" lvl="0" indent="0" algn="l" rtl="0">
                <a:spcBef>
                  <a:spcPts val="450"/>
                </a:spcBef>
                <a:spcAft>
                  <a:spcPts val="0"/>
                </a:spcAft>
                <a:buNone/>
              </a:pPr>
              <a:r>
                <a:rPr lang="en-US" sz="1150">
                  <a:solidFill>
                    <a:srgbClr val="24284A"/>
                  </a:solidFill>
                  <a:latin typeface="Calibri"/>
                  <a:ea typeface="Calibri"/>
                  <a:cs typeface="Calibri"/>
                  <a:sym typeface="Calibri"/>
                </a:rPr>
                <a:t>Personal &amp; consumer loans, MSME/business finance, gold loans, and fast digital-first lending products.</a:t>
              </a:r>
              <a:endParaRPr sz="1150">
                <a:solidFill>
                  <a:srgbClr val="24284A"/>
                </a:solidFill>
                <a:latin typeface="Calibri"/>
                <a:ea typeface="Calibri"/>
                <a:cs typeface="Calibri"/>
                <a:sym typeface="Calibri"/>
              </a:endParaRPr>
            </a:p>
          </p:txBody>
        </p:sp>
      </p:grpSp>
      <p:grpSp>
        <p:nvGrpSpPr>
          <p:cNvPr id="74" name="Google Shape;74;p4"/>
          <p:cNvGrpSpPr/>
          <p:nvPr/>
        </p:nvGrpSpPr>
        <p:grpSpPr>
          <a:xfrm>
            <a:off x="6305550" y="1447800"/>
            <a:ext cx="5334000" cy="4143300"/>
            <a:chOff x="0" y="0"/>
            <a:chExt cx="5334000" cy="4143300"/>
          </a:xfrm>
        </p:grpSpPr>
        <p:sp>
          <p:nvSpPr>
            <p:cNvPr id="75" name="Google Shape;75;p4"/>
            <p:cNvSpPr/>
            <p:nvPr/>
          </p:nvSpPr>
          <p:spPr>
            <a:xfrm>
              <a:off x="0" y="0"/>
              <a:ext cx="5334000" cy="4143300"/>
            </a:xfrm>
            <a:prstGeom prst="roundRect">
              <a:avLst>
                <a:gd name="adj" fmla="val 2758"/>
              </a:avLst>
            </a:prstGeom>
            <a:solidFill>
              <a:srgbClr val="F5F7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 name="Google Shape;76;p4"/>
            <p:cNvSpPr txBox="1"/>
            <p:nvPr/>
          </p:nvSpPr>
          <p:spPr>
            <a:xfrm>
              <a:off x="266700" y="190500"/>
              <a:ext cx="48006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5B6B8C"/>
                  </a:solidFill>
                  <a:latin typeface="Calibri"/>
                  <a:ea typeface="Calibri"/>
                  <a:cs typeface="Calibri"/>
                  <a:sym typeface="Calibri"/>
                </a:rPr>
                <a:t>SECTOR AT A GLANCE</a:t>
              </a:r>
              <a:endParaRPr sz="1100" b="1">
                <a:solidFill>
                  <a:srgbClr val="5B6B8C"/>
                </a:solidFill>
                <a:latin typeface="Calibri"/>
                <a:ea typeface="Calibri"/>
                <a:cs typeface="Calibri"/>
                <a:sym typeface="Calibri"/>
              </a:endParaRPr>
            </a:p>
          </p:txBody>
        </p:sp>
        <p:cxnSp>
          <p:nvCxnSpPr>
            <p:cNvPr id="77" name="Google Shape;77;p4"/>
            <p:cNvCxnSpPr/>
            <p:nvPr/>
          </p:nvCxnSpPr>
          <p:spPr>
            <a:xfrm>
              <a:off x="266700" y="495300"/>
              <a:ext cx="48006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78" name="Google Shape;78;p4"/>
            <p:cNvSpPr txBox="1"/>
            <p:nvPr/>
          </p:nvSpPr>
          <p:spPr>
            <a:xfrm>
              <a:off x="266700" y="647700"/>
              <a:ext cx="48006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00" b="1">
                  <a:solidFill>
                    <a:srgbClr val="C89B3C"/>
                  </a:solidFill>
                  <a:latin typeface="Cambria"/>
                  <a:ea typeface="Cambria"/>
                  <a:cs typeface="Cambria"/>
                  <a:sym typeface="Cambria"/>
                </a:rPr>
                <a:t>₹54 trillion+</a:t>
              </a:r>
              <a:endParaRPr sz="2800" b="1">
                <a:solidFill>
                  <a:srgbClr val="C89B3C"/>
                </a:solidFill>
                <a:latin typeface="Cambria"/>
                <a:ea typeface="Cambria"/>
                <a:cs typeface="Cambria"/>
                <a:sym typeface="Cambria"/>
              </a:endParaRPr>
            </a:p>
            <a:p>
              <a:pPr marL="0" lvl="0" indent="0" algn="l" rtl="0">
                <a:spcBef>
                  <a:spcPts val="150"/>
                </a:spcBef>
                <a:spcAft>
                  <a:spcPts val="0"/>
                </a:spcAft>
                <a:buNone/>
              </a:pPr>
              <a:r>
                <a:rPr lang="en-US" sz="1150">
                  <a:solidFill>
                    <a:srgbClr val="24284A"/>
                  </a:solidFill>
                  <a:latin typeface="Calibri"/>
                  <a:ea typeface="Calibri"/>
                  <a:cs typeface="Calibri"/>
                  <a:sym typeface="Calibri"/>
                </a:rPr>
                <a:t>NBFC sector assets under management</a:t>
              </a:r>
              <a:endParaRPr sz="1150">
                <a:solidFill>
                  <a:srgbClr val="24284A"/>
                </a:solidFill>
                <a:latin typeface="Calibri"/>
                <a:ea typeface="Calibri"/>
                <a:cs typeface="Calibri"/>
                <a:sym typeface="Calibri"/>
              </a:endParaRPr>
            </a:p>
          </p:txBody>
        </p:sp>
        <p:cxnSp>
          <p:nvCxnSpPr>
            <p:cNvPr id="79" name="Google Shape;79;p4"/>
            <p:cNvCxnSpPr/>
            <p:nvPr/>
          </p:nvCxnSpPr>
          <p:spPr>
            <a:xfrm>
              <a:off x="266700" y="1714500"/>
              <a:ext cx="48006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80" name="Google Shape;80;p4"/>
            <p:cNvSpPr txBox="1"/>
            <p:nvPr/>
          </p:nvSpPr>
          <p:spPr>
            <a:xfrm>
              <a:off x="266700" y="1866900"/>
              <a:ext cx="48006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00" b="1">
                  <a:solidFill>
                    <a:srgbClr val="C89B3C"/>
                  </a:solidFill>
                  <a:latin typeface="Cambria"/>
                  <a:ea typeface="Cambria"/>
                  <a:cs typeface="Cambria"/>
                  <a:sym typeface="Cambria"/>
                </a:rPr>
                <a:t>~30%</a:t>
              </a:r>
              <a:endParaRPr sz="2800" b="1">
                <a:solidFill>
                  <a:srgbClr val="C89B3C"/>
                </a:solidFill>
                <a:latin typeface="Cambria"/>
                <a:ea typeface="Cambria"/>
                <a:cs typeface="Cambria"/>
                <a:sym typeface="Cambria"/>
              </a:endParaRPr>
            </a:p>
            <a:p>
              <a:pPr marL="0" lvl="0" indent="0" algn="l" rtl="0">
                <a:spcBef>
                  <a:spcPts val="150"/>
                </a:spcBef>
                <a:spcAft>
                  <a:spcPts val="0"/>
                </a:spcAft>
                <a:buNone/>
              </a:pPr>
              <a:r>
                <a:rPr lang="en-US" sz="1150">
                  <a:solidFill>
                    <a:srgbClr val="24284A"/>
                  </a:solidFill>
                  <a:latin typeface="Calibri"/>
                  <a:ea typeface="Calibri"/>
                  <a:cs typeface="Calibri"/>
                  <a:sym typeface="Calibri"/>
                </a:rPr>
                <a:t>Share of new digital lending disbursements</a:t>
              </a:r>
              <a:endParaRPr sz="1150">
                <a:solidFill>
                  <a:srgbClr val="24284A"/>
                </a:solidFill>
                <a:latin typeface="Calibri"/>
                <a:ea typeface="Calibri"/>
                <a:cs typeface="Calibri"/>
                <a:sym typeface="Calibri"/>
              </a:endParaRPr>
            </a:p>
          </p:txBody>
        </p:sp>
        <p:cxnSp>
          <p:nvCxnSpPr>
            <p:cNvPr id="81" name="Google Shape;81;p4"/>
            <p:cNvCxnSpPr/>
            <p:nvPr/>
          </p:nvCxnSpPr>
          <p:spPr>
            <a:xfrm>
              <a:off x="266700" y="2933700"/>
              <a:ext cx="48006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82" name="Google Shape;82;p4"/>
            <p:cNvSpPr txBox="1"/>
            <p:nvPr/>
          </p:nvSpPr>
          <p:spPr>
            <a:xfrm>
              <a:off x="266700" y="3086100"/>
              <a:ext cx="48006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00" b="1">
                  <a:solidFill>
                    <a:srgbClr val="C89B3C"/>
                  </a:solidFill>
                  <a:latin typeface="Cambria"/>
                  <a:ea typeface="Cambria"/>
                  <a:cs typeface="Cambria"/>
                  <a:sym typeface="Cambria"/>
                </a:rPr>
                <a:t>10.9 crore </a:t>
              </a:r>
              <a:r>
                <a:rPr lang="en-US" sz="1400" b="0">
                  <a:solidFill>
                    <a:srgbClr val="5B6B8C"/>
                  </a:solidFill>
                  <a:latin typeface="Cambria"/>
                  <a:ea typeface="Cambria"/>
                  <a:cs typeface="Cambria"/>
                  <a:sym typeface="Cambria"/>
                </a:rPr>
                <a:t>(₹1,06,548 crore)</a:t>
              </a:r>
              <a:endParaRPr sz="2800" b="1">
                <a:solidFill>
                  <a:srgbClr val="C89B3C"/>
                </a:solidFill>
                <a:latin typeface="Cambria"/>
                <a:ea typeface="Cambria"/>
                <a:cs typeface="Cambria"/>
                <a:sym typeface="Cambria"/>
              </a:endParaRPr>
            </a:p>
            <a:p>
              <a:pPr marL="0" lvl="0" indent="0" algn="l" rtl="0">
                <a:spcBef>
                  <a:spcPts val="150"/>
                </a:spcBef>
                <a:spcAft>
                  <a:spcPts val="0"/>
                </a:spcAft>
                <a:buNone/>
              </a:pPr>
              <a:r>
                <a:rPr lang="en-US" sz="1150">
                  <a:solidFill>
                    <a:srgbClr val="24284A"/>
                  </a:solidFill>
                  <a:latin typeface="Calibri"/>
                  <a:ea typeface="Calibri"/>
                  <a:cs typeface="Calibri"/>
                  <a:sym typeface="Calibri"/>
                </a:rPr>
                <a:t>Personal loans sanctioned by fintech-led NBFCs in FY 2024–25</a:t>
              </a:r>
              <a:endParaRPr sz="1150">
                <a:solidFill>
                  <a:srgbClr val="24284A"/>
                </a:solidFill>
                <a:latin typeface="Calibri"/>
                <a:ea typeface="Calibri"/>
                <a:cs typeface="Calibri"/>
                <a:sym typeface="Calibri"/>
              </a:endParaRPr>
            </a:p>
          </p:txBody>
        </p:sp>
      </p:grpSp>
      <p:sp>
        <p:nvSpPr>
          <p:cNvPr id="83" name="Google Shape;83;p4"/>
          <p:cNvSpPr txBox="1"/>
          <p:nvPr/>
        </p:nvSpPr>
        <p:spPr>
          <a:xfrm>
            <a:off x="6305550" y="5695950"/>
            <a:ext cx="5334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900" i="1">
                <a:solidFill>
                  <a:srgbClr val="5B6B8C"/>
                </a:solidFill>
                <a:latin typeface="Calibri"/>
                <a:ea typeface="Calibri"/>
                <a:cs typeface="Calibri"/>
                <a:sym typeface="Calibri"/>
              </a:rPr>
              <a:t>Source: RBI Financial Stability Report (2025); AppWrk Insights, AI in NBFC Lending (2026)</a:t>
            </a:r>
            <a:endParaRPr sz="900" i="1">
              <a:solidFill>
                <a:srgbClr val="5B6B8C"/>
              </a:solidFill>
              <a:latin typeface="Calibri"/>
              <a:ea typeface="Calibri"/>
              <a:cs typeface="Calibri"/>
              <a:sym typeface="Calibri"/>
            </a:endParaRPr>
          </a:p>
        </p:txBody>
      </p:sp>
      <p:sp>
        <p:nvSpPr>
          <p:cNvPr id="84" name="Google Shape;84;p4"/>
          <p:cNvSpPr txBox="1"/>
          <p:nvPr/>
        </p:nvSpPr>
        <p:spPr>
          <a:xfrm>
            <a:off x="11475720" y="6473952"/>
            <a:ext cx="457200" cy="274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2</a:t>
            </a:r>
            <a:endParaRPr sz="1000">
              <a:solidFill>
                <a:schemeClr val="dk1"/>
              </a:solidFill>
              <a:latin typeface="Calibri"/>
              <a:ea typeface="Calibri"/>
              <a:cs typeface="Calibri"/>
              <a:sym typeface="Calibri"/>
            </a:endParaRPr>
          </a:p>
        </p:txBody>
      </p:sp>
      <p:sp>
        <p:nvSpPr>
          <p:cNvPr id="85" name="Google Shape;85;p4"/>
          <p:cNvSpPr txBox="1"/>
          <p:nvPr/>
        </p:nvSpPr>
        <p:spPr>
          <a:xfrm>
            <a:off x="457200" y="6473952"/>
            <a:ext cx="5486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0"/>
        <p:cNvGrpSpPr/>
        <p:nvPr/>
      </p:nvGrpSpPr>
      <p:grpSpPr>
        <a:xfrm>
          <a:off x="0" y="0"/>
          <a:ext cx="0" cy="0"/>
          <a:chOff x="0" y="0"/>
          <a:chExt cx="0" cy="0"/>
        </a:xfrm>
      </p:grpSpPr>
      <p:sp>
        <p:nvSpPr>
          <p:cNvPr id="91" name="Google Shape;91;p5"/>
          <p:cNvSpPr txBox="1"/>
          <p:nvPr/>
        </p:nvSpPr>
        <p:spPr>
          <a:xfrm>
            <a:off x="548640" y="411480"/>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The Business Problem</a:t>
            </a:r>
            <a:endParaRPr sz="3200">
              <a:solidFill>
                <a:schemeClr val="dk1"/>
              </a:solidFill>
              <a:latin typeface="Calibri"/>
              <a:ea typeface="Calibri"/>
              <a:cs typeface="Calibri"/>
              <a:sym typeface="Calibri"/>
            </a:endParaRPr>
          </a:p>
        </p:txBody>
      </p:sp>
      <p:sp>
        <p:nvSpPr>
          <p:cNvPr id="92" name="Google Shape;92;p5"/>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Predicting Loan Default Before It Happens</a:t>
            </a:r>
            <a:endParaRPr sz="1600">
              <a:solidFill>
                <a:schemeClr val="dk1"/>
              </a:solidFill>
              <a:latin typeface="Calibri"/>
              <a:ea typeface="Calibri"/>
              <a:cs typeface="Calibri"/>
              <a:sym typeface="Calibri"/>
            </a:endParaRPr>
          </a:p>
        </p:txBody>
      </p:sp>
      <p:sp>
        <p:nvSpPr>
          <p:cNvPr id="93" name="Google Shape;93;p5"/>
          <p:cNvSpPr/>
          <p:nvPr/>
        </p:nvSpPr>
        <p:spPr>
          <a:xfrm>
            <a:off x="548640" y="1600200"/>
            <a:ext cx="11064240" cy="1051560"/>
          </a:xfrm>
          <a:prstGeom prst="roundRect">
            <a:avLst>
              <a:gd name="adj" fmla="val 6957"/>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 name="Google Shape;94;p5"/>
          <p:cNvSpPr txBox="1"/>
          <p:nvPr/>
        </p:nvSpPr>
        <p:spPr>
          <a:xfrm>
            <a:off x="914400" y="1737360"/>
            <a:ext cx="104241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550"/>
              <a:buFont typeface="Calibri"/>
              <a:buNone/>
            </a:pPr>
            <a:r>
              <a:rPr lang="en-US" sz="1550" i="1">
                <a:solidFill>
                  <a:srgbClr val="FFFFFF"/>
                </a:solidFill>
                <a:latin typeface="Calibri"/>
                <a:ea typeface="Calibri"/>
                <a:cs typeface="Calibri"/>
                <a:sym typeface="Calibri"/>
              </a:rPr>
              <a:t>Loan default prediction estimates, before disbursement, the probability that a borrower will fail to repay — so the lender can approve, reject, or price the loan appropriately.</a:t>
            </a:r>
            <a:endParaRPr sz="1550">
              <a:solidFill>
                <a:schemeClr val="dk1"/>
              </a:solidFill>
              <a:latin typeface="Calibri"/>
              <a:ea typeface="Calibri"/>
              <a:cs typeface="Calibri"/>
              <a:sym typeface="Calibri"/>
            </a:endParaRPr>
          </a:p>
        </p:txBody>
      </p:sp>
      <p:sp>
        <p:nvSpPr>
          <p:cNvPr id="95" name="Google Shape;95;p5"/>
          <p:cNvSpPr/>
          <p:nvPr/>
        </p:nvSpPr>
        <p:spPr>
          <a:xfrm>
            <a:off x="548640" y="2971800"/>
            <a:ext cx="3538728" cy="3063240"/>
          </a:xfrm>
          <a:prstGeom prst="roundRect">
            <a:avLst>
              <a:gd name="adj" fmla="val 238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5"/>
          <p:cNvSpPr/>
          <p:nvPr/>
        </p:nvSpPr>
        <p:spPr>
          <a:xfrm>
            <a:off x="822960" y="3246120"/>
            <a:ext cx="457200" cy="457200"/>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 name="Google Shape;97;p5"/>
          <p:cNvSpPr txBox="1"/>
          <p:nvPr/>
        </p:nvSpPr>
        <p:spPr>
          <a:xfrm>
            <a:off x="822960" y="32461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98" name="Google Shape;98;p5"/>
          <p:cNvSpPr txBox="1"/>
          <p:nvPr/>
        </p:nvSpPr>
        <p:spPr>
          <a:xfrm>
            <a:off x="822960" y="3886200"/>
            <a:ext cx="3017520" cy="6858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E2761"/>
              </a:buClr>
              <a:buSzPts val="1450"/>
              <a:buFont typeface="Cambria"/>
              <a:buNone/>
            </a:pPr>
            <a:r>
              <a:rPr lang="en-US" sz="1450" b="1">
                <a:solidFill>
                  <a:srgbClr val="1E2761"/>
                </a:solidFill>
                <a:latin typeface="Cambria"/>
                <a:ea typeface="Cambria"/>
                <a:cs typeface="Cambria"/>
                <a:sym typeface="Cambria"/>
              </a:rPr>
              <a:t>Explosive small-ticket growth</a:t>
            </a:r>
            <a:endParaRPr sz="1450">
              <a:solidFill>
                <a:schemeClr val="dk1"/>
              </a:solidFill>
              <a:latin typeface="Calibri"/>
              <a:ea typeface="Calibri"/>
              <a:cs typeface="Calibri"/>
              <a:sym typeface="Calibri"/>
            </a:endParaRPr>
          </a:p>
        </p:txBody>
      </p:sp>
      <p:sp>
        <p:nvSpPr>
          <p:cNvPr id="99" name="Google Shape;99;p5"/>
          <p:cNvSpPr txBox="1"/>
          <p:nvPr/>
        </p:nvSpPr>
        <p:spPr>
          <a:xfrm>
            <a:off x="822960" y="4572000"/>
            <a:ext cx="3017520" cy="12801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00"/>
              <a:buFont typeface="Calibri"/>
              <a:buNone/>
            </a:pPr>
            <a:r>
              <a:rPr lang="en-US" sz="1200">
                <a:solidFill>
                  <a:srgbClr val="24284A"/>
                </a:solidFill>
                <a:latin typeface="Calibri"/>
                <a:ea typeface="Calibri"/>
                <a:cs typeface="Calibri"/>
                <a:sym typeface="Calibri"/>
              </a:rPr>
              <a:t>Loans below ₹1 lakh have grown roughly 48x since 2017, mostly through NBFCs and fintechs.</a:t>
            </a:r>
            <a:endParaRPr sz="1200">
              <a:solidFill>
                <a:schemeClr val="dk1"/>
              </a:solidFill>
              <a:latin typeface="Calibri"/>
              <a:ea typeface="Calibri"/>
              <a:cs typeface="Calibri"/>
              <a:sym typeface="Calibri"/>
            </a:endParaRPr>
          </a:p>
        </p:txBody>
      </p:sp>
      <p:sp>
        <p:nvSpPr>
          <p:cNvPr id="100" name="Google Shape;100;p5"/>
          <p:cNvSpPr/>
          <p:nvPr/>
        </p:nvSpPr>
        <p:spPr>
          <a:xfrm>
            <a:off x="4343400" y="2971800"/>
            <a:ext cx="3538728" cy="3063240"/>
          </a:xfrm>
          <a:prstGeom prst="roundRect">
            <a:avLst>
              <a:gd name="adj" fmla="val 238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 name="Google Shape;101;p5"/>
          <p:cNvSpPr/>
          <p:nvPr/>
        </p:nvSpPr>
        <p:spPr>
          <a:xfrm>
            <a:off x="4617720" y="3246120"/>
            <a:ext cx="457200" cy="457200"/>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5"/>
          <p:cNvSpPr txBox="1"/>
          <p:nvPr/>
        </p:nvSpPr>
        <p:spPr>
          <a:xfrm>
            <a:off x="4617720" y="32461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103" name="Google Shape;103;p5"/>
          <p:cNvSpPr txBox="1"/>
          <p:nvPr/>
        </p:nvSpPr>
        <p:spPr>
          <a:xfrm>
            <a:off x="4617720" y="3886200"/>
            <a:ext cx="3017520" cy="6858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E2761"/>
              </a:buClr>
              <a:buSzPts val="1450"/>
              <a:buFont typeface="Cambria"/>
              <a:buNone/>
            </a:pPr>
            <a:r>
              <a:rPr lang="en-US" sz="1450" b="1">
                <a:solidFill>
                  <a:srgbClr val="1E2761"/>
                </a:solidFill>
                <a:latin typeface="Cambria"/>
                <a:ea typeface="Cambria"/>
                <a:cs typeface="Cambria"/>
                <a:sym typeface="Cambria"/>
              </a:rPr>
              <a:t>Bureau-only scoring falls short</a:t>
            </a:r>
            <a:endParaRPr sz="1450">
              <a:solidFill>
                <a:schemeClr val="dk1"/>
              </a:solidFill>
              <a:latin typeface="Calibri"/>
              <a:ea typeface="Calibri"/>
              <a:cs typeface="Calibri"/>
              <a:sym typeface="Calibri"/>
            </a:endParaRPr>
          </a:p>
        </p:txBody>
      </p:sp>
      <p:sp>
        <p:nvSpPr>
          <p:cNvPr id="104" name="Google Shape;104;p5"/>
          <p:cNvSpPr txBox="1"/>
          <p:nvPr/>
        </p:nvSpPr>
        <p:spPr>
          <a:xfrm>
            <a:off x="4617720" y="4572000"/>
            <a:ext cx="3017520" cy="12801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00"/>
              <a:buFont typeface="Calibri"/>
              <a:buNone/>
            </a:pPr>
            <a:r>
              <a:rPr lang="en-US" sz="1200">
                <a:solidFill>
                  <a:srgbClr val="24284A"/>
                </a:solidFill>
                <a:latin typeface="Calibri"/>
                <a:ea typeface="Calibri"/>
                <a:cs typeface="Calibri"/>
                <a:sym typeface="Calibri"/>
              </a:rPr>
              <a:t>Traditional CIBIL-only checks miss thin-file and first-time borrowers who lack credit history.</a:t>
            </a:r>
            <a:endParaRPr sz="1200">
              <a:solidFill>
                <a:schemeClr val="dk1"/>
              </a:solidFill>
              <a:latin typeface="Calibri"/>
              <a:ea typeface="Calibri"/>
              <a:cs typeface="Calibri"/>
              <a:sym typeface="Calibri"/>
            </a:endParaRPr>
          </a:p>
        </p:txBody>
      </p:sp>
      <p:sp>
        <p:nvSpPr>
          <p:cNvPr id="105" name="Google Shape;105;p5"/>
          <p:cNvSpPr/>
          <p:nvPr/>
        </p:nvSpPr>
        <p:spPr>
          <a:xfrm>
            <a:off x="8138160" y="2971800"/>
            <a:ext cx="3538728" cy="3063240"/>
          </a:xfrm>
          <a:prstGeom prst="roundRect">
            <a:avLst>
              <a:gd name="adj" fmla="val 238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5"/>
          <p:cNvSpPr/>
          <p:nvPr/>
        </p:nvSpPr>
        <p:spPr>
          <a:xfrm>
            <a:off x="8412480" y="3246120"/>
            <a:ext cx="457200" cy="457200"/>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 name="Google Shape;107;p5"/>
          <p:cNvSpPr txBox="1"/>
          <p:nvPr/>
        </p:nvSpPr>
        <p:spPr>
          <a:xfrm>
            <a:off x="8412480" y="324612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108" name="Google Shape;108;p5"/>
          <p:cNvSpPr txBox="1"/>
          <p:nvPr/>
        </p:nvSpPr>
        <p:spPr>
          <a:xfrm>
            <a:off x="8412480" y="3886200"/>
            <a:ext cx="3017520" cy="6858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E2761"/>
              </a:buClr>
              <a:buSzPts val="1450"/>
              <a:buFont typeface="Cambria"/>
              <a:buNone/>
            </a:pPr>
            <a:r>
              <a:rPr lang="en-US" sz="1450" b="1">
                <a:solidFill>
                  <a:srgbClr val="1E2761"/>
                </a:solidFill>
                <a:latin typeface="Cambria"/>
                <a:ea typeface="Cambria"/>
                <a:cs typeface="Cambria"/>
                <a:sym typeface="Cambria"/>
              </a:rPr>
              <a:t>Manual review is slow</a:t>
            </a:r>
            <a:endParaRPr sz="1450">
              <a:solidFill>
                <a:schemeClr val="dk1"/>
              </a:solidFill>
              <a:latin typeface="Calibri"/>
              <a:ea typeface="Calibri"/>
              <a:cs typeface="Calibri"/>
              <a:sym typeface="Calibri"/>
            </a:endParaRPr>
          </a:p>
        </p:txBody>
      </p:sp>
      <p:sp>
        <p:nvSpPr>
          <p:cNvPr id="109" name="Google Shape;109;p5"/>
          <p:cNvSpPr txBox="1"/>
          <p:nvPr/>
        </p:nvSpPr>
        <p:spPr>
          <a:xfrm>
            <a:off x="8412480" y="4572000"/>
            <a:ext cx="3017520" cy="12801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00"/>
              <a:buFont typeface="Calibri"/>
              <a:buNone/>
            </a:pPr>
            <a:r>
              <a:rPr lang="en-US" sz="1200">
                <a:solidFill>
                  <a:srgbClr val="24284A"/>
                </a:solidFill>
                <a:latin typeface="Calibri"/>
                <a:ea typeface="Calibri"/>
                <a:cs typeface="Calibri"/>
                <a:sym typeface="Calibri"/>
              </a:rPr>
              <a:t>Conventional underwriting takes 3–5 days per application — too slow for instant-approval expectations.</a:t>
            </a:r>
            <a:endParaRPr sz="1200">
              <a:solidFill>
                <a:schemeClr val="dk1"/>
              </a:solidFill>
              <a:latin typeface="Calibri"/>
              <a:ea typeface="Calibri"/>
              <a:cs typeface="Calibri"/>
              <a:sym typeface="Calibri"/>
            </a:endParaRPr>
          </a:p>
        </p:txBody>
      </p:sp>
      <p:sp>
        <p:nvSpPr>
          <p:cNvPr id="110" name="Google Shape;110;p5"/>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3</a:t>
            </a:r>
            <a:endParaRPr sz="1000">
              <a:solidFill>
                <a:schemeClr val="dk1"/>
              </a:solidFill>
              <a:latin typeface="Calibri"/>
              <a:ea typeface="Calibri"/>
              <a:cs typeface="Calibri"/>
              <a:sym typeface="Calibri"/>
            </a:endParaRPr>
          </a:p>
        </p:txBody>
      </p:sp>
      <p:sp>
        <p:nvSpPr>
          <p:cNvPr id="111" name="Google Shape;111;p5"/>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6"/>
        <p:cNvGrpSpPr/>
        <p:nvPr/>
      </p:nvGrpSpPr>
      <p:grpSpPr>
        <a:xfrm>
          <a:off x="0" y="0"/>
          <a:ext cx="0" cy="0"/>
          <a:chOff x="0" y="0"/>
          <a:chExt cx="0" cy="0"/>
        </a:xfrm>
      </p:grpSpPr>
      <p:sp>
        <p:nvSpPr>
          <p:cNvPr id="117" name="Google Shape;117;p6"/>
          <p:cNvSpPr txBox="1"/>
          <p:nvPr/>
        </p:nvSpPr>
        <p:spPr>
          <a:xfrm>
            <a:off x="548640" y="411480"/>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Why This Problem Matters</a:t>
            </a:r>
            <a:endParaRPr sz="3200">
              <a:solidFill>
                <a:schemeClr val="dk1"/>
              </a:solidFill>
              <a:latin typeface="Calibri"/>
              <a:ea typeface="Calibri"/>
              <a:cs typeface="Calibri"/>
              <a:sym typeface="Calibri"/>
            </a:endParaRPr>
          </a:p>
        </p:txBody>
      </p:sp>
      <p:sp>
        <p:nvSpPr>
          <p:cNvPr id="118" name="Google Shape;118;p6"/>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The cost of getting underwriting wrong — in either direction</a:t>
            </a:r>
            <a:endParaRPr sz="1600">
              <a:solidFill>
                <a:schemeClr val="dk1"/>
              </a:solidFill>
              <a:latin typeface="Calibri"/>
              <a:ea typeface="Calibri"/>
              <a:cs typeface="Calibri"/>
              <a:sym typeface="Calibri"/>
            </a:endParaRPr>
          </a:p>
        </p:txBody>
      </p:sp>
      <p:sp>
        <p:nvSpPr>
          <p:cNvPr id="119" name="Google Shape;119;p6"/>
          <p:cNvSpPr/>
          <p:nvPr/>
        </p:nvSpPr>
        <p:spPr>
          <a:xfrm>
            <a:off x="548640" y="1645920"/>
            <a:ext cx="5349240" cy="4480560"/>
          </a:xfrm>
          <a:prstGeom prst="roundRect">
            <a:avLst>
              <a:gd name="adj" fmla="val 1633"/>
            </a:avLst>
          </a:prstGeom>
          <a:solidFill>
            <a:srgbClr val="FBEF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 name="Google Shape;120;p6"/>
          <p:cNvSpPr txBox="1"/>
          <p:nvPr/>
        </p:nvSpPr>
        <p:spPr>
          <a:xfrm>
            <a:off x="914400" y="1874520"/>
            <a:ext cx="46634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5A1E"/>
              </a:buClr>
              <a:buSzPts val="1200"/>
              <a:buFont typeface="Calibri"/>
              <a:buNone/>
            </a:pPr>
            <a:r>
              <a:rPr lang="en-US" sz="1200" b="1">
                <a:solidFill>
                  <a:srgbClr val="8A5A1E"/>
                </a:solidFill>
                <a:latin typeface="Calibri"/>
                <a:ea typeface="Calibri"/>
                <a:cs typeface="Calibri"/>
                <a:sym typeface="Calibri"/>
              </a:rPr>
              <a:t>RISK OF MISSED DEFAULTS</a:t>
            </a:r>
            <a:endParaRPr sz="1200">
              <a:solidFill>
                <a:schemeClr val="dk1"/>
              </a:solidFill>
              <a:latin typeface="Calibri"/>
              <a:ea typeface="Calibri"/>
              <a:cs typeface="Calibri"/>
              <a:sym typeface="Calibri"/>
            </a:endParaRPr>
          </a:p>
        </p:txBody>
      </p:sp>
      <p:sp>
        <p:nvSpPr>
          <p:cNvPr id="121" name="Google Shape;121;p6"/>
          <p:cNvSpPr txBox="1"/>
          <p:nvPr/>
        </p:nvSpPr>
        <p:spPr>
          <a:xfrm>
            <a:off x="914400" y="2286000"/>
            <a:ext cx="4663440" cy="3566160"/>
          </a:xfrm>
          <a:prstGeom prst="rect">
            <a:avLst/>
          </a:prstGeom>
          <a:noFill/>
          <a:ln>
            <a:noFill/>
          </a:ln>
        </p:spPr>
        <p:txBody>
          <a:bodyPr spcFirstLastPara="1" wrap="square" lIns="0" tIns="0" rIns="0" bIns="0" anchor="ctr" anchorCtr="0">
            <a:noAutofit/>
          </a:bodyPr>
          <a:lstStyle/>
          <a:p>
            <a:pPr marL="342900" marR="0" lvl="0" indent="-342900" algn="l" rtl="0">
              <a:lnSpc>
                <a:spcPct val="120000"/>
              </a:lnSpc>
              <a:spcBef>
                <a:spcPts val="0"/>
              </a:spcBef>
              <a:spcAft>
                <a:spcPts val="0"/>
              </a:spcAft>
              <a:buClr>
                <a:srgbClr val="24284A"/>
              </a:buClr>
              <a:buSzPts val="1300"/>
              <a:buFont typeface="Calibri"/>
              <a:buChar char="•"/>
            </a:pPr>
            <a:r>
              <a:rPr lang="en-US" sz="1300">
                <a:solidFill>
                  <a:srgbClr val="24284A"/>
                </a:solidFill>
                <a:latin typeface="Calibri"/>
                <a:ea typeface="Calibri"/>
                <a:cs typeface="Calibri"/>
                <a:sym typeface="Calibri"/>
              </a:rPr>
              <a:t>Rising non-performing assets (NPAs) increase provisioning costs and directly erode profitability.</a:t>
            </a:r>
            <a:br>
              <a:rPr lang="en-US" sz="1300">
                <a:solidFill>
                  <a:srgbClr val="24284A"/>
                </a:solidFill>
                <a:latin typeface="Calibri"/>
                <a:ea typeface="Calibri"/>
                <a:cs typeface="Calibri"/>
                <a:sym typeface="Calibri"/>
              </a:rPr>
            </a:br>
            <a:br>
              <a:rPr lang="en-US" sz="1300">
                <a:solidFill>
                  <a:srgbClr val="24284A"/>
                </a:solidFill>
                <a:latin typeface="Calibri"/>
                <a:ea typeface="Calibri"/>
                <a:cs typeface="Calibri"/>
                <a:sym typeface="Calibri"/>
              </a:rPr>
            </a:br>
            <a:endParaRPr sz="1300">
              <a:solidFill>
                <a:schemeClr val="dk1"/>
              </a:solidFill>
              <a:latin typeface="Calibri"/>
              <a:ea typeface="Calibri"/>
              <a:cs typeface="Calibri"/>
              <a:sym typeface="Calibri"/>
            </a:endParaRPr>
          </a:p>
          <a:p>
            <a:pPr marL="342900" marR="0" lvl="0" indent="-342900" algn="l" rtl="0">
              <a:lnSpc>
                <a:spcPct val="120000"/>
              </a:lnSpc>
              <a:spcBef>
                <a:spcPts val="1000"/>
              </a:spcBef>
              <a:spcAft>
                <a:spcPts val="0"/>
              </a:spcAft>
              <a:buClr>
                <a:srgbClr val="24284A"/>
              </a:buClr>
              <a:buSzPts val="1300"/>
              <a:buFont typeface="Calibri"/>
              <a:buChar char="•"/>
            </a:pPr>
            <a:r>
              <a:rPr lang="en-US" sz="1300">
                <a:solidFill>
                  <a:srgbClr val="24284A"/>
                </a:solidFill>
                <a:latin typeface="Calibri"/>
                <a:ea typeface="Calibri"/>
                <a:cs typeface="Calibri"/>
                <a:sym typeface="Calibri"/>
              </a:rPr>
              <a:t>Analysts have flagged asset-quality concerns in unsecured retail lending as growth accelerates.</a:t>
            </a:r>
            <a:br>
              <a:rPr lang="en-US" sz="1300">
                <a:solidFill>
                  <a:srgbClr val="24284A"/>
                </a:solidFill>
                <a:latin typeface="Calibri"/>
                <a:ea typeface="Calibri"/>
                <a:cs typeface="Calibri"/>
                <a:sym typeface="Calibri"/>
              </a:rPr>
            </a:br>
            <a:br>
              <a:rPr lang="en-US" sz="1300">
                <a:solidFill>
                  <a:srgbClr val="24284A"/>
                </a:solidFill>
                <a:latin typeface="Calibri"/>
                <a:ea typeface="Calibri"/>
                <a:cs typeface="Calibri"/>
                <a:sym typeface="Calibri"/>
              </a:rPr>
            </a:br>
            <a:endParaRPr sz="1300">
              <a:solidFill>
                <a:schemeClr val="dk1"/>
              </a:solidFill>
              <a:latin typeface="Calibri"/>
              <a:ea typeface="Calibri"/>
              <a:cs typeface="Calibri"/>
              <a:sym typeface="Calibri"/>
            </a:endParaRPr>
          </a:p>
          <a:p>
            <a:pPr marL="342900" marR="0" lvl="0" indent="-342900" algn="l" rtl="0">
              <a:lnSpc>
                <a:spcPct val="120000"/>
              </a:lnSpc>
              <a:spcBef>
                <a:spcPts val="1000"/>
              </a:spcBef>
              <a:spcAft>
                <a:spcPts val="0"/>
              </a:spcAft>
              <a:buClr>
                <a:srgbClr val="24284A"/>
              </a:buClr>
              <a:buSzPts val="1300"/>
              <a:buFont typeface="Calibri"/>
              <a:buChar char="•"/>
            </a:pPr>
            <a:r>
              <a:rPr lang="en-US" sz="1300">
                <a:solidFill>
                  <a:srgbClr val="24284A"/>
                </a:solidFill>
                <a:latin typeface="Calibri"/>
                <a:ea typeface="Calibri"/>
                <a:cs typeface="Calibri"/>
                <a:sym typeface="Calibri"/>
              </a:rPr>
              <a:t>Weak underwriting limits an NBFC's ability to raise funding at competitive rates.</a:t>
            </a:r>
            <a:endParaRPr sz="1300">
              <a:solidFill>
                <a:schemeClr val="dk1"/>
              </a:solidFill>
              <a:latin typeface="Calibri"/>
              <a:ea typeface="Calibri"/>
              <a:cs typeface="Calibri"/>
              <a:sym typeface="Calibri"/>
            </a:endParaRPr>
          </a:p>
        </p:txBody>
      </p:sp>
      <p:sp>
        <p:nvSpPr>
          <p:cNvPr id="122" name="Google Shape;122;p6"/>
          <p:cNvSpPr/>
          <p:nvPr/>
        </p:nvSpPr>
        <p:spPr>
          <a:xfrm>
            <a:off x="6172200" y="1645920"/>
            <a:ext cx="5440680" cy="4480560"/>
          </a:xfrm>
          <a:prstGeom prst="roundRect">
            <a:avLst>
              <a:gd name="adj" fmla="val 1633"/>
            </a:avLst>
          </a:prstGeom>
          <a:solidFill>
            <a:srgbClr val="CADC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6"/>
          <p:cNvSpPr txBox="1"/>
          <p:nvPr/>
        </p:nvSpPr>
        <p:spPr>
          <a:xfrm>
            <a:off x="6537960" y="1874520"/>
            <a:ext cx="47548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200"/>
              <a:buFont typeface="Calibri"/>
              <a:buNone/>
            </a:pPr>
            <a:r>
              <a:rPr lang="en-US" sz="1200" b="1">
                <a:solidFill>
                  <a:srgbClr val="1E2761"/>
                </a:solidFill>
                <a:latin typeface="Calibri"/>
                <a:ea typeface="Calibri"/>
                <a:cs typeface="Calibri"/>
                <a:sym typeface="Calibri"/>
              </a:rPr>
              <a:t>RISK OF SLOW, MANUAL REVIEW</a:t>
            </a:r>
            <a:endParaRPr sz="1200">
              <a:solidFill>
                <a:schemeClr val="dk1"/>
              </a:solidFill>
              <a:latin typeface="Calibri"/>
              <a:ea typeface="Calibri"/>
              <a:cs typeface="Calibri"/>
              <a:sym typeface="Calibri"/>
            </a:endParaRPr>
          </a:p>
        </p:txBody>
      </p:sp>
      <p:sp>
        <p:nvSpPr>
          <p:cNvPr id="124" name="Google Shape;124;p6"/>
          <p:cNvSpPr txBox="1"/>
          <p:nvPr/>
        </p:nvSpPr>
        <p:spPr>
          <a:xfrm>
            <a:off x="6537960" y="2286000"/>
            <a:ext cx="4754880" cy="3566160"/>
          </a:xfrm>
          <a:prstGeom prst="rect">
            <a:avLst/>
          </a:prstGeom>
          <a:noFill/>
          <a:ln>
            <a:noFill/>
          </a:ln>
        </p:spPr>
        <p:txBody>
          <a:bodyPr spcFirstLastPara="1" wrap="square" lIns="0" tIns="0" rIns="0" bIns="0" anchor="ctr" anchorCtr="0">
            <a:noAutofit/>
          </a:bodyPr>
          <a:lstStyle/>
          <a:p>
            <a:pPr marL="342900" marR="0" lvl="0" indent="-342900" algn="l" rtl="0">
              <a:lnSpc>
                <a:spcPct val="120000"/>
              </a:lnSpc>
              <a:spcBef>
                <a:spcPts val="0"/>
              </a:spcBef>
              <a:spcAft>
                <a:spcPts val="0"/>
              </a:spcAft>
              <a:buClr>
                <a:srgbClr val="24284A"/>
              </a:buClr>
              <a:buSzPts val="1300"/>
              <a:buFont typeface="Calibri"/>
              <a:buChar char="•"/>
            </a:pPr>
            <a:r>
              <a:rPr lang="en-US" sz="1300">
                <a:solidFill>
                  <a:srgbClr val="24284A"/>
                </a:solidFill>
                <a:latin typeface="Calibri"/>
                <a:ea typeface="Calibri"/>
                <a:cs typeface="Calibri"/>
                <a:sym typeface="Calibri"/>
              </a:rPr>
              <a:t>3–5 day manual approval cycles lose price-sensitive borrowers to faster digital-first competitors.</a:t>
            </a:r>
            <a:br>
              <a:rPr lang="en-US" sz="1300">
                <a:solidFill>
                  <a:srgbClr val="24284A"/>
                </a:solidFill>
                <a:latin typeface="Calibri"/>
                <a:ea typeface="Calibri"/>
                <a:cs typeface="Calibri"/>
                <a:sym typeface="Calibri"/>
              </a:rPr>
            </a:br>
            <a:br>
              <a:rPr lang="en-US" sz="1300">
                <a:solidFill>
                  <a:srgbClr val="24284A"/>
                </a:solidFill>
                <a:latin typeface="Calibri"/>
                <a:ea typeface="Calibri"/>
                <a:cs typeface="Calibri"/>
                <a:sym typeface="Calibri"/>
              </a:rPr>
            </a:br>
            <a:endParaRPr sz="1300">
              <a:solidFill>
                <a:schemeClr val="dk1"/>
              </a:solidFill>
              <a:latin typeface="Calibri"/>
              <a:ea typeface="Calibri"/>
              <a:cs typeface="Calibri"/>
              <a:sym typeface="Calibri"/>
            </a:endParaRPr>
          </a:p>
          <a:p>
            <a:pPr marL="342900" marR="0" lvl="0" indent="-342900" algn="l" rtl="0">
              <a:lnSpc>
                <a:spcPct val="120000"/>
              </a:lnSpc>
              <a:spcBef>
                <a:spcPts val="1000"/>
              </a:spcBef>
              <a:spcAft>
                <a:spcPts val="0"/>
              </a:spcAft>
              <a:buClr>
                <a:srgbClr val="24284A"/>
              </a:buClr>
              <a:buSzPts val="1300"/>
              <a:buFont typeface="Calibri"/>
              <a:buChar char="•"/>
            </a:pPr>
            <a:r>
              <a:rPr lang="en-US" sz="1300">
                <a:solidFill>
                  <a:srgbClr val="24284A"/>
                </a:solidFill>
                <a:latin typeface="Calibri"/>
                <a:ea typeface="Calibri"/>
                <a:cs typeface="Calibri"/>
                <a:sym typeface="Calibri"/>
              </a:rPr>
              <a:t>Manual review cannot scale to India's growing volume of small-ticket digital loans.</a:t>
            </a:r>
            <a:br>
              <a:rPr lang="en-US" sz="1300">
                <a:solidFill>
                  <a:srgbClr val="24284A"/>
                </a:solidFill>
                <a:latin typeface="Calibri"/>
                <a:ea typeface="Calibri"/>
                <a:cs typeface="Calibri"/>
                <a:sym typeface="Calibri"/>
              </a:rPr>
            </a:br>
            <a:br>
              <a:rPr lang="en-US" sz="1300">
                <a:solidFill>
                  <a:srgbClr val="24284A"/>
                </a:solidFill>
                <a:latin typeface="Calibri"/>
                <a:ea typeface="Calibri"/>
                <a:cs typeface="Calibri"/>
                <a:sym typeface="Calibri"/>
              </a:rPr>
            </a:br>
            <a:endParaRPr sz="1300">
              <a:solidFill>
                <a:schemeClr val="dk1"/>
              </a:solidFill>
              <a:latin typeface="Calibri"/>
              <a:ea typeface="Calibri"/>
              <a:cs typeface="Calibri"/>
              <a:sym typeface="Calibri"/>
            </a:endParaRPr>
          </a:p>
          <a:p>
            <a:pPr marL="342900" marR="0" lvl="0" indent="-342900" algn="l" rtl="0">
              <a:lnSpc>
                <a:spcPct val="120000"/>
              </a:lnSpc>
              <a:spcBef>
                <a:spcPts val="1000"/>
              </a:spcBef>
              <a:spcAft>
                <a:spcPts val="0"/>
              </a:spcAft>
              <a:buClr>
                <a:srgbClr val="24284A"/>
              </a:buClr>
              <a:buSzPts val="1300"/>
              <a:buFont typeface="Calibri"/>
              <a:buChar char="•"/>
            </a:pPr>
            <a:r>
              <a:rPr lang="en-US" sz="1300">
                <a:solidFill>
                  <a:srgbClr val="24284A"/>
                </a:solidFill>
                <a:latin typeface="Calibri"/>
                <a:ea typeface="Calibri"/>
                <a:cs typeface="Calibri"/>
                <a:sym typeface="Calibri"/>
              </a:rPr>
              <a:t>Inconsistent human judgment can introduce unintentional bias into decisions.</a:t>
            </a:r>
            <a:endParaRPr sz="1300">
              <a:solidFill>
                <a:schemeClr val="dk1"/>
              </a:solidFill>
              <a:latin typeface="Calibri"/>
              <a:ea typeface="Calibri"/>
              <a:cs typeface="Calibri"/>
              <a:sym typeface="Calibri"/>
            </a:endParaRPr>
          </a:p>
        </p:txBody>
      </p:sp>
      <p:sp>
        <p:nvSpPr>
          <p:cNvPr id="125" name="Google Shape;125;p6"/>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4</a:t>
            </a:r>
            <a:endParaRPr sz="1000">
              <a:solidFill>
                <a:schemeClr val="dk1"/>
              </a:solidFill>
              <a:latin typeface="Calibri"/>
              <a:ea typeface="Calibri"/>
              <a:cs typeface="Calibri"/>
              <a:sym typeface="Calibri"/>
            </a:endParaRPr>
          </a:p>
        </p:txBody>
      </p:sp>
      <p:sp>
        <p:nvSpPr>
          <p:cNvPr id="126" name="Google Shape;126;p6"/>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1"/>
        <p:cNvGrpSpPr/>
        <p:nvPr/>
      </p:nvGrpSpPr>
      <p:grpSpPr>
        <a:xfrm>
          <a:off x="0" y="0"/>
          <a:ext cx="0" cy="0"/>
          <a:chOff x="0" y="0"/>
          <a:chExt cx="0" cy="0"/>
        </a:xfrm>
      </p:grpSpPr>
      <p:sp>
        <p:nvSpPr>
          <p:cNvPr id="132" name="Google Shape;132;p7"/>
          <p:cNvSpPr txBox="1"/>
          <p:nvPr/>
        </p:nvSpPr>
        <p:spPr>
          <a:xfrm>
            <a:off x="548640" y="411480"/>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Data Used to Solve It</a:t>
            </a:r>
            <a:endParaRPr sz="3200">
              <a:solidFill>
                <a:schemeClr val="dk1"/>
              </a:solidFill>
              <a:latin typeface="Calibri"/>
              <a:ea typeface="Calibri"/>
              <a:cs typeface="Calibri"/>
              <a:sym typeface="Calibri"/>
            </a:endParaRPr>
          </a:p>
        </p:txBody>
      </p:sp>
      <p:sp>
        <p:nvSpPr>
          <p:cNvPr id="133" name="Google Shape;133;p7"/>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Two real datasets, harmonized into one ~170,000-row modeling set</a:t>
            </a:r>
            <a:endParaRPr sz="1600">
              <a:solidFill>
                <a:schemeClr val="dk1"/>
              </a:solidFill>
              <a:latin typeface="Calibri"/>
              <a:ea typeface="Calibri"/>
              <a:cs typeface="Calibri"/>
              <a:sym typeface="Calibri"/>
            </a:endParaRPr>
          </a:p>
        </p:txBody>
      </p:sp>
      <p:sp>
        <p:nvSpPr>
          <p:cNvPr id="134" name="Google Shape;134;p7"/>
          <p:cNvSpPr/>
          <p:nvPr/>
        </p:nvSpPr>
        <p:spPr>
          <a:xfrm>
            <a:off x="548640" y="1691640"/>
            <a:ext cx="3593592" cy="2103120"/>
          </a:xfrm>
          <a:prstGeom prst="roundRect">
            <a:avLst>
              <a:gd name="adj" fmla="val 347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7"/>
          <p:cNvSpPr/>
          <p:nvPr/>
        </p:nvSpPr>
        <p:spPr>
          <a:xfrm>
            <a:off x="804672" y="1947672"/>
            <a:ext cx="411480" cy="411480"/>
          </a:xfrm>
          <a:prstGeom prst="ellipse">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6" name="Google Shape;136;p7"/>
          <p:cNvSpPr txBox="1"/>
          <p:nvPr/>
        </p:nvSpPr>
        <p:spPr>
          <a:xfrm>
            <a:off x="804672" y="1947672"/>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1</a:t>
            </a:r>
            <a:endParaRPr sz="1400">
              <a:solidFill>
                <a:schemeClr val="dk1"/>
              </a:solidFill>
              <a:latin typeface="Calibri"/>
              <a:ea typeface="Calibri"/>
              <a:cs typeface="Calibri"/>
              <a:sym typeface="Calibri"/>
            </a:endParaRPr>
          </a:p>
        </p:txBody>
      </p:sp>
      <p:sp>
        <p:nvSpPr>
          <p:cNvPr id="137" name="Google Shape;137;p7"/>
          <p:cNvSpPr txBox="1"/>
          <p:nvPr/>
        </p:nvSpPr>
        <p:spPr>
          <a:xfrm>
            <a:off x="804672" y="2560320"/>
            <a:ext cx="31089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Demographic (age)</a:t>
            </a:r>
            <a:endParaRPr sz="1400">
              <a:solidFill>
                <a:schemeClr val="dk1"/>
              </a:solidFill>
              <a:latin typeface="Calibri"/>
              <a:ea typeface="Calibri"/>
              <a:cs typeface="Calibri"/>
              <a:sym typeface="Calibri"/>
            </a:endParaRPr>
          </a:p>
        </p:txBody>
      </p:sp>
      <p:sp>
        <p:nvSpPr>
          <p:cNvPr id="138" name="Google Shape;138;p7"/>
          <p:cNvSpPr txBox="1"/>
          <p:nvPr/>
        </p:nvSpPr>
        <p:spPr>
          <a:xfrm>
            <a:off x="804672" y="306324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Age, harmonized across sources (numeric, or midpoint of banded ranges).</a:t>
            </a:r>
            <a:endParaRPr sz="1150">
              <a:solidFill>
                <a:schemeClr val="dk1"/>
              </a:solidFill>
              <a:latin typeface="Calibri"/>
              <a:ea typeface="Calibri"/>
              <a:cs typeface="Calibri"/>
              <a:sym typeface="Calibri"/>
            </a:endParaRPr>
          </a:p>
        </p:txBody>
      </p:sp>
      <p:sp>
        <p:nvSpPr>
          <p:cNvPr id="139" name="Google Shape;139;p7"/>
          <p:cNvSpPr/>
          <p:nvPr/>
        </p:nvSpPr>
        <p:spPr>
          <a:xfrm>
            <a:off x="4325112" y="1691640"/>
            <a:ext cx="3593592" cy="2103120"/>
          </a:xfrm>
          <a:prstGeom prst="roundRect">
            <a:avLst>
              <a:gd name="adj" fmla="val 347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0" name="Google Shape;140;p7"/>
          <p:cNvSpPr/>
          <p:nvPr/>
        </p:nvSpPr>
        <p:spPr>
          <a:xfrm>
            <a:off x="4581144" y="1947672"/>
            <a:ext cx="411480" cy="411480"/>
          </a:xfrm>
          <a:prstGeom prst="ellipse">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1" name="Google Shape;141;p7"/>
          <p:cNvSpPr txBox="1"/>
          <p:nvPr/>
        </p:nvSpPr>
        <p:spPr>
          <a:xfrm>
            <a:off x="4581144" y="1947672"/>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2</a:t>
            </a:r>
            <a:endParaRPr sz="1400">
              <a:solidFill>
                <a:schemeClr val="dk1"/>
              </a:solidFill>
              <a:latin typeface="Calibri"/>
              <a:ea typeface="Calibri"/>
              <a:cs typeface="Calibri"/>
              <a:sym typeface="Calibri"/>
            </a:endParaRPr>
          </a:p>
        </p:txBody>
      </p:sp>
      <p:sp>
        <p:nvSpPr>
          <p:cNvPr id="142" name="Google Shape;142;p7"/>
          <p:cNvSpPr txBox="1"/>
          <p:nvPr/>
        </p:nvSpPr>
        <p:spPr>
          <a:xfrm>
            <a:off x="4581144" y="2560320"/>
            <a:ext cx="31089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Credit score</a:t>
            </a:r>
            <a:endParaRPr sz="1400">
              <a:solidFill>
                <a:schemeClr val="dk1"/>
              </a:solidFill>
              <a:latin typeface="Calibri"/>
              <a:ea typeface="Calibri"/>
              <a:cs typeface="Calibri"/>
              <a:sym typeface="Calibri"/>
            </a:endParaRPr>
          </a:p>
        </p:txBody>
      </p:sp>
      <p:sp>
        <p:nvSpPr>
          <p:cNvPr id="143" name="Google Shape;143;p7"/>
          <p:cNvSpPr txBox="1"/>
          <p:nvPr/>
        </p:nvSpPr>
        <p:spPr>
          <a:xfrm>
            <a:off x="4581144" y="306324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Loan grade or numeric score, rescaled to a common 0–100 scale.</a:t>
            </a:r>
            <a:endParaRPr sz="1150">
              <a:solidFill>
                <a:schemeClr val="dk1"/>
              </a:solidFill>
              <a:latin typeface="Calibri"/>
              <a:ea typeface="Calibri"/>
              <a:cs typeface="Calibri"/>
              <a:sym typeface="Calibri"/>
            </a:endParaRPr>
          </a:p>
        </p:txBody>
      </p:sp>
      <p:sp>
        <p:nvSpPr>
          <p:cNvPr id="144" name="Google Shape;144;p7"/>
          <p:cNvSpPr/>
          <p:nvPr/>
        </p:nvSpPr>
        <p:spPr>
          <a:xfrm>
            <a:off x="8101584" y="1691640"/>
            <a:ext cx="3593592" cy="2103120"/>
          </a:xfrm>
          <a:prstGeom prst="roundRect">
            <a:avLst>
              <a:gd name="adj" fmla="val 347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7"/>
          <p:cNvSpPr/>
          <p:nvPr/>
        </p:nvSpPr>
        <p:spPr>
          <a:xfrm>
            <a:off x="8357616" y="1947672"/>
            <a:ext cx="411480" cy="411480"/>
          </a:xfrm>
          <a:prstGeom prst="ellipse">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7"/>
          <p:cNvSpPr txBox="1"/>
          <p:nvPr/>
        </p:nvSpPr>
        <p:spPr>
          <a:xfrm>
            <a:off x="8357616" y="1947672"/>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3</a:t>
            </a:r>
            <a:endParaRPr sz="1400">
              <a:solidFill>
                <a:schemeClr val="dk1"/>
              </a:solidFill>
              <a:latin typeface="Calibri"/>
              <a:ea typeface="Calibri"/>
              <a:cs typeface="Calibri"/>
              <a:sym typeface="Calibri"/>
            </a:endParaRPr>
          </a:p>
        </p:txBody>
      </p:sp>
      <p:sp>
        <p:nvSpPr>
          <p:cNvPr id="147" name="Google Shape;147;p7"/>
          <p:cNvSpPr txBox="1"/>
          <p:nvPr/>
        </p:nvSpPr>
        <p:spPr>
          <a:xfrm>
            <a:off x="8357616" y="2560320"/>
            <a:ext cx="31089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Loan details</a:t>
            </a:r>
            <a:endParaRPr sz="1400">
              <a:solidFill>
                <a:schemeClr val="dk1"/>
              </a:solidFill>
              <a:latin typeface="Calibri"/>
              <a:ea typeface="Calibri"/>
              <a:cs typeface="Calibri"/>
              <a:sym typeface="Calibri"/>
            </a:endParaRPr>
          </a:p>
        </p:txBody>
      </p:sp>
      <p:sp>
        <p:nvSpPr>
          <p:cNvPr id="148" name="Google Shape;148;p7"/>
          <p:cNvSpPr txBox="1"/>
          <p:nvPr/>
        </p:nvSpPr>
        <p:spPr>
          <a:xfrm>
            <a:off x="8357616" y="306324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Loan amount requested and the interest rate offered.</a:t>
            </a:r>
            <a:endParaRPr sz="1150">
              <a:solidFill>
                <a:schemeClr val="dk1"/>
              </a:solidFill>
              <a:latin typeface="Calibri"/>
              <a:ea typeface="Calibri"/>
              <a:cs typeface="Calibri"/>
              <a:sym typeface="Calibri"/>
            </a:endParaRPr>
          </a:p>
        </p:txBody>
      </p:sp>
      <p:sp>
        <p:nvSpPr>
          <p:cNvPr id="149" name="Google Shape;149;p7"/>
          <p:cNvSpPr/>
          <p:nvPr/>
        </p:nvSpPr>
        <p:spPr>
          <a:xfrm>
            <a:off x="548640" y="4023360"/>
            <a:ext cx="3593592" cy="2103120"/>
          </a:xfrm>
          <a:prstGeom prst="roundRect">
            <a:avLst>
              <a:gd name="adj" fmla="val 347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0" name="Google Shape;150;p7"/>
          <p:cNvSpPr/>
          <p:nvPr/>
        </p:nvSpPr>
        <p:spPr>
          <a:xfrm>
            <a:off x="804672" y="4279392"/>
            <a:ext cx="411480" cy="411480"/>
          </a:xfrm>
          <a:prstGeom prst="ellipse">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1" name="Google Shape;151;p7"/>
          <p:cNvSpPr txBox="1"/>
          <p:nvPr/>
        </p:nvSpPr>
        <p:spPr>
          <a:xfrm>
            <a:off x="804672" y="4279392"/>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4</a:t>
            </a:r>
            <a:endParaRPr sz="1400">
              <a:solidFill>
                <a:schemeClr val="dk1"/>
              </a:solidFill>
              <a:latin typeface="Calibri"/>
              <a:ea typeface="Calibri"/>
              <a:cs typeface="Calibri"/>
              <a:sym typeface="Calibri"/>
            </a:endParaRPr>
          </a:p>
        </p:txBody>
      </p:sp>
      <p:sp>
        <p:nvSpPr>
          <p:cNvPr id="152" name="Google Shape;152;p7"/>
          <p:cNvSpPr txBox="1"/>
          <p:nvPr/>
        </p:nvSpPr>
        <p:spPr>
          <a:xfrm>
            <a:off x="804672" y="4892040"/>
            <a:ext cx="31089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Income &amp; affordability</a:t>
            </a:r>
            <a:endParaRPr sz="1400">
              <a:solidFill>
                <a:schemeClr val="dk1"/>
              </a:solidFill>
              <a:latin typeface="Calibri"/>
              <a:ea typeface="Calibri"/>
              <a:cs typeface="Calibri"/>
              <a:sym typeface="Calibri"/>
            </a:endParaRPr>
          </a:p>
        </p:txBody>
      </p:sp>
      <p:sp>
        <p:nvSpPr>
          <p:cNvPr id="153" name="Google Shape;153;p7"/>
          <p:cNvSpPr txBox="1"/>
          <p:nvPr/>
        </p:nvSpPr>
        <p:spPr>
          <a:xfrm>
            <a:off x="804672" y="539496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Annual income, debt-to-income %, and loan-to-income ratio.</a:t>
            </a:r>
            <a:endParaRPr sz="1150">
              <a:solidFill>
                <a:schemeClr val="dk1"/>
              </a:solidFill>
              <a:latin typeface="Calibri"/>
              <a:ea typeface="Calibri"/>
              <a:cs typeface="Calibri"/>
              <a:sym typeface="Calibri"/>
            </a:endParaRPr>
          </a:p>
        </p:txBody>
      </p:sp>
      <p:sp>
        <p:nvSpPr>
          <p:cNvPr id="154" name="Google Shape;154;p7"/>
          <p:cNvSpPr/>
          <p:nvPr/>
        </p:nvSpPr>
        <p:spPr>
          <a:xfrm>
            <a:off x="4325112" y="4023360"/>
            <a:ext cx="3593592" cy="2103120"/>
          </a:xfrm>
          <a:prstGeom prst="roundRect">
            <a:avLst>
              <a:gd name="adj" fmla="val 347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5" name="Google Shape;155;p7"/>
          <p:cNvSpPr/>
          <p:nvPr/>
        </p:nvSpPr>
        <p:spPr>
          <a:xfrm>
            <a:off x="4581144" y="4279392"/>
            <a:ext cx="411480" cy="411480"/>
          </a:xfrm>
          <a:prstGeom prst="ellipse">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6" name="Google Shape;156;p7"/>
          <p:cNvSpPr txBox="1"/>
          <p:nvPr/>
        </p:nvSpPr>
        <p:spPr>
          <a:xfrm>
            <a:off x="4581144" y="4279392"/>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5</a:t>
            </a:r>
            <a:endParaRPr sz="1400">
              <a:solidFill>
                <a:schemeClr val="dk1"/>
              </a:solidFill>
              <a:latin typeface="Calibri"/>
              <a:ea typeface="Calibri"/>
              <a:cs typeface="Calibri"/>
              <a:sym typeface="Calibri"/>
            </a:endParaRPr>
          </a:p>
        </p:txBody>
      </p:sp>
      <p:sp>
        <p:nvSpPr>
          <p:cNvPr id="157" name="Google Shape;157;p7"/>
          <p:cNvSpPr txBox="1"/>
          <p:nvPr/>
        </p:nvSpPr>
        <p:spPr>
          <a:xfrm>
            <a:off x="4581144" y="4892040"/>
            <a:ext cx="31089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Employment</a:t>
            </a:r>
            <a:endParaRPr sz="1400">
              <a:solidFill>
                <a:schemeClr val="dk1"/>
              </a:solidFill>
              <a:latin typeface="Calibri"/>
              <a:ea typeface="Calibri"/>
              <a:cs typeface="Calibri"/>
              <a:sym typeface="Calibri"/>
            </a:endParaRPr>
          </a:p>
        </p:txBody>
      </p:sp>
      <p:sp>
        <p:nvSpPr>
          <p:cNvPr id="158" name="Google Shape;158;p7"/>
          <p:cNvSpPr txBox="1"/>
          <p:nvPr/>
        </p:nvSpPr>
        <p:spPr>
          <a:xfrm>
            <a:off x="4581144" y="539496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Years employed, with a missing-value flag where unreported.</a:t>
            </a:r>
            <a:endParaRPr sz="1150">
              <a:solidFill>
                <a:schemeClr val="dk1"/>
              </a:solidFill>
              <a:latin typeface="Calibri"/>
              <a:ea typeface="Calibri"/>
              <a:cs typeface="Calibri"/>
              <a:sym typeface="Calibri"/>
            </a:endParaRPr>
          </a:p>
        </p:txBody>
      </p:sp>
      <p:sp>
        <p:nvSpPr>
          <p:cNvPr id="159" name="Google Shape;159;p7"/>
          <p:cNvSpPr/>
          <p:nvPr/>
        </p:nvSpPr>
        <p:spPr>
          <a:xfrm>
            <a:off x="8101584" y="4023360"/>
            <a:ext cx="3593592" cy="2103120"/>
          </a:xfrm>
          <a:prstGeom prst="roundRect">
            <a:avLst>
              <a:gd name="adj" fmla="val 3478"/>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7"/>
          <p:cNvSpPr/>
          <p:nvPr/>
        </p:nvSpPr>
        <p:spPr>
          <a:xfrm>
            <a:off x="8357616" y="4279392"/>
            <a:ext cx="411480" cy="411480"/>
          </a:xfrm>
          <a:prstGeom prst="ellipse">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1" name="Google Shape;161;p7"/>
          <p:cNvSpPr txBox="1"/>
          <p:nvPr/>
        </p:nvSpPr>
        <p:spPr>
          <a:xfrm>
            <a:off x="8357616" y="4279392"/>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6</a:t>
            </a:r>
            <a:endParaRPr sz="1400">
              <a:solidFill>
                <a:schemeClr val="dk1"/>
              </a:solidFill>
              <a:latin typeface="Calibri"/>
              <a:ea typeface="Calibri"/>
              <a:cs typeface="Calibri"/>
              <a:sym typeface="Calibri"/>
            </a:endParaRPr>
          </a:p>
        </p:txBody>
      </p:sp>
      <p:sp>
        <p:nvSpPr>
          <p:cNvPr id="162" name="Google Shape;162;p7"/>
          <p:cNvSpPr txBox="1"/>
          <p:nvPr/>
        </p:nvSpPr>
        <p:spPr>
          <a:xfrm>
            <a:off x="8357616" y="4892040"/>
            <a:ext cx="31089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Outcome label</a:t>
            </a:r>
            <a:endParaRPr sz="1400">
              <a:solidFill>
                <a:schemeClr val="dk1"/>
              </a:solidFill>
              <a:latin typeface="Calibri"/>
              <a:ea typeface="Calibri"/>
              <a:cs typeface="Calibri"/>
              <a:sym typeface="Calibri"/>
            </a:endParaRPr>
          </a:p>
        </p:txBody>
      </p:sp>
      <p:sp>
        <p:nvSpPr>
          <p:cNvPr id="163" name="Google Shape;163;p7"/>
          <p:cNvSpPr txBox="1"/>
          <p:nvPr/>
        </p:nvSpPr>
        <p:spPr>
          <a:xfrm>
            <a:off x="8357616" y="539496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Target flag: 1 = defaulted, 0 = repaid — used to train and test models.</a:t>
            </a:r>
            <a:endParaRPr sz="1150">
              <a:solidFill>
                <a:schemeClr val="dk1"/>
              </a:solidFill>
              <a:latin typeface="Calibri"/>
              <a:ea typeface="Calibri"/>
              <a:cs typeface="Calibri"/>
              <a:sym typeface="Calibri"/>
            </a:endParaRPr>
          </a:p>
        </p:txBody>
      </p:sp>
      <p:sp>
        <p:nvSpPr>
          <p:cNvPr id="164" name="Google Shape;164;p7"/>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5</a:t>
            </a:r>
            <a:endParaRPr sz="1000">
              <a:solidFill>
                <a:schemeClr val="dk1"/>
              </a:solidFill>
              <a:latin typeface="Calibri"/>
              <a:ea typeface="Calibri"/>
              <a:cs typeface="Calibri"/>
              <a:sym typeface="Calibri"/>
            </a:endParaRPr>
          </a:p>
        </p:txBody>
      </p:sp>
      <p:sp>
        <p:nvSpPr>
          <p:cNvPr id="165" name="Google Shape;165;p7"/>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0"/>
        <p:cNvGrpSpPr/>
        <p:nvPr/>
      </p:nvGrpSpPr>
      <p:grpSpPr>
        <a:xfrm>
          <a:off x="0" y="0"/>
          <a:ext cx="0" cy="0"/>
          <a:chOff x="0" y="0"/>
          <a:chExt cx="0" cy="0"/>
        </a:xfrm>
      </p:grpSpPr>
      <p:sp>
        <p:nvSpPr>
          <p:cNvPr id="171" name="Google Shape;171;p8"/>
          <p:cNvSpPr txBox="1"/>
          <p:nvPr/>
        </p:nvSpPr>
        <p:spPr>
          <a:xfrm>
            <a:off x="548640" y="411480"/>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The AI/ML Approach</a:t>
            </a:r>
            <a:endParaRPr sz="3200">
              <a:solidFill>
                <a:schemeClr val="dk1"/>
              </a:solidFill>
              <a:latin typeface="Calibri"/>
              <a:ea typeface="Calibri"/>
              <a:cs typeface="Calibri"/>
              <a:sym typeface="Calibri"/>
            </a:endParaRPr>
          </a:p>
        </p:txBody>
      </p:sp>
      <p:sp>
        <p:nvSpPr>
          <p:cNvPr id="172" name="Google Shape;172;p8"/>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Binary Classification — Comparing Three Models</a:t>
            </a:r>
            <a:endParaRPr sz="1600">
              <a:solidFill>
                <a:schemeClr val="dk1"/>
              </a:solidFill>
              <a:latin typeface="Calibri"/>
              <a:ea typeface="Calibri"/>
              <a:cs typeface="Calibri"/>
              <a:sym typeface="Calibri"/>
            </a:endParaRPr>
          </a:p>
        </p:txBody>
      </p:sp>
      <p:sp>
        <p:nvSpPr>
          <p:cNvPr id="173" name="Google Shape;173;p8"/>
          <p:cNvSpPr/>
          <p:nvPr/>
        </p:nvSpPr>
        <p:spPr>
          <a:xfrm>
            <a:off x="548640" y="1600200"/>
            <a:ext cx="5120640" cy="4526280"/>
          </a:xfrm>
          <a:prstGeom prst="roundRect">
            <a:avLst>
              <a:gd name="adj" fmla="val 1616"/>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4" name="Google Shape;174;p8"/>
          <p:cNvSpPr txBox="1"/>
          <p:nvPr/>
        </p:nvSpPr>
        <p:spPr>
          <a:xfrm>
            <a:off x="914400" y="1828800"/>
            <a:ext cx="44805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1100"/>
              <a:buFont typeface="Calibri"/>
              <a:buNone/>
            </a:pPr>
            <a:r>
              <a:rPr lang="en-US" sz="1100" b="1">
                <a:solidFill>
                  <a:srgbClr val="C89B3C"/>
                </a:solidFill>
                <a:latin typeface="Calibri"/>
                <a:ea typeface="Calibri"/>
                <a:cs typeface="Calibri"/>
                <a:sym typeface="Calibri"/>
              </a:rPr>
              <a:t>WHAT THE MODEL DOES</a:t>
            </a:r>
            <a:endParaRPr sz="1100">
              <a:solidFill>
                <a:schemeClr val="dk1"/>
              </a:solidFill>
              <a:latin typeface="Calibri"/>
              <a:ea typeface="Calibri"/>
              <a:cs typeface="Calibri"/>
              <a:sym typeface="Calibri"/>
            </a:endParaRPr>
          </a:p>
        </p:txBody>
      </p:sp>
      <p:sp>
        <p:nvSpPr>
          <p:cNvPr id="175" name="Google Shape;175;p8"/>
          <p:cNvSpPr txBox="1"/>
          <p:nvPr/>
        </p:nvSpPr>
        <p:spPr>
          <a:xfrm>
            <a:off x="914400" y="2240280"/>
            <a:ext cx="4480560" cy="14630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FFFFFF"/>
              </a:buClr>
              <a:buSzPts val="1400"/>
              <a:buFont typeface="Calibri"/>
              <a:buNone/>
            </a:pPr>
            <a:r>
              <a:rPr lang="en-US" sz="1400">
                <a:solidFill>
                  <a:srgbClr val="FFFFFF"/>
                </a:solidFill>
                <a:latin typeface="Calibri"/>
                <a:ea typeface="Calibri"/>
                <a:cs typeface="Calibri"/>
                <a:sym typeface="Calibri"/>
              </a:rPr>
              <a:t>Logistic Regression, Decision Tree, and Random Forest are trained on the same applicant features. Each outputs a probability between 0 and 1 — the estimated chance of default — which becomes a risk score.</a:t>
            </a:r>
            <a:endParaRPr sz="1400">
              <a:solidFill>
                <a:schemeClr val="dk1"/>
              </a:solidFill>
              <a:latin typeface="Calibri"/>
              <a:ea typeface="Calibri"/>
              <a:cs typeface="Calibri"/>
              <a:sym typeface="Calibri"/>
            </a:endParaRPr>
          </a:p>
        </p:txBody>
      </p:sp>
      <p:cxnSp>
        <p:nvCxnSpPr>
          <p:cNvPr id="176" name="Google Shape;176;p8"/>
          <p:cNvCxnSpPr/>
          <p:nvPr/>
        </p:nvCxnSpPr>
        <p:spPr>
          <a:xfrm>
            <a:off x="914400" y="3840480"/>
            <a:ext cx="4480560" cy="0"/>
          </a:xfrm>
          <a:prstGeom prst="straightConnector1">
            <a:avLst/>
          </a:prstGeom>
          <a:noFill/>
          <a:ln w="12700" cap="flat" cmpd="sng">
            <a:solidFill>
              <a:srgbClr val="3A4590"/>
            </a:solidFill>
            <a:prstDash val="solid"/>
            <a:round/>
            <a:headEnd type="none" w="sm" len="sm"/>
            <a:tailEnd type="none" w="sm" len="sm"/>
          </a:ln>
        </p:spPr>
      </p:cxnSp>
      <p:sp>
        <p:nvSpPr>
          <p:cNvPr id="177" name="Google Shape;177;p8"/>
          <p:cNvSpPr txBox="1"/>
          <p:nvPr/>
        </p:nvSpPr>
        <p:spPr>
          <a:xfrm>
            <a:off x="914400" y="4023360"/>
            <a:ext cx="4480560" cy="1737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250"/>
              <a:buFont typeface="Calibri"/>
              <a:buNone/>
            </a:pPr>
            <a:r>
              <a:rPr lang="en-US" sz="1250" i="1">
                <a:solidFill>
                  <a:srgbClr val="CADCFC"/>
                </a:solidFill>
                <a:latin typeface="Calibri"/>
                <a:ea typeface="Calibri"/>
                <a:cs typeface="Calibri"/>
                <a:sym typeface="Calibri"/>
              </a:rPr>
              <a:t>Classification  •  Supervised Learning  •  Model Comparison</a:t>
            </a:r>
            <a:endParaRPr sz="1250">
              <a:solidFill>
                <a:schemeClr val="dk1"/>
              </a:solidFill>
              <a:latin typeface="Calibri"/>
              <a:ea typeface="Calibri"/>
              <a:cs typeface="Calibri"/>
              <a:sym typeface="Calibri"/>
            </a:endParaRPr>
          </a:p>
        </p:txBody>
      </p:sp>
      <p:sp>
        <p:nvSpPr>
          <p:cNvPr id="178" name="Google Shape;178;p8"/>
          <p:cNvSpPr txBox="1"/>
          <p:nvPr/>
        </p:nvSpPr>
        <p:spPr>
          <a:xfrm>
            <a:off x="5989320" y="1600200"/>
            <a:ext cx="5486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100"/>
              <a:buFont typeface="Calibri"/>
              <a:buNone/>
            </a:pPr>
            <a:r>
              <a:rPr lang="en-US" sz="1100" b="1">
                <a:solidFill>
                  <a:srgbClr val="5B6B8C"/>
                </a:solidFill>
                <a:latin typeface="Calibri"/>
                <a:ea typeface="Calibri"/>
                <a:cs typeface="Calibri"/>
                <a:sym typeface="Calibri"/>
              </a:rPr>
              <a:t>WHY IT FITS THIS PROBLEM</a:t>
            </a:r>
            <a:endParaRPr sz="1100">
              <a:solidFill>
                <a:schemeClr val="dk1"/>
              </a:solidFill>
              <a:latin typeface="Calibri"/>
              <a:ea typeface="Calibri"/>
              <a:cs typeface="Calibri"/>
              <a:sym typeface="Calibri"/>
            </a:endParaRPr>
          </a:p>
        </p:txBody>
      </p:sp>
      <p:sp>
        <p:nvSpPr>
          <p:cNvPr id="179" name="Google Shape;179;p8"/>
          <p:cNvSpPr/>
          <p:nvPr/>
        </p:nvSpPr>
        <p:spPr>
          <a:xfrm>
            <a:off x="5989320" y="2057400"/>
            <a:ext cx="292608" cy="29260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8"/>
          <p:cNvSpPr txBox="1"/>
          <p:nvPr/>
        </p:nvSpPr>
        <p:spPr>
          <a:xfrm>
            <a:off x="5989320" y="2057400"/>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181" name="Google Shape;181;p8"/>
          <p:cNvSpPr txBox="1"/>
          <p:nvPr/>
        </p:nvSpPr>
        <p:spPr>
          <a:xfrm>
            <a:off x="6446520" y="1993392"/>
            <a:ext cx="5120640" cy="8686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50"/>
              <a:buFont typeface="Calibri"/>
              <a:buNone/>
            </a:pPr>
            <a:r>
              <a:rPr lang="en-US" sz="1250">
                <a:solidFill>
                  <a:srgbClr val="24284A"/>
                </a:solidFill>
                <a:latin typeface="Calibri"/>
                <a:ea typeface="Calibri"/>
                <a:cs typeface="Calibri"/>
                <a:sym typeface="Calibri"/>
              </a:rPr>
              <a:t>Logistic Regression's interpretable coefficients let a lender explain a flagged application — important for RBI transparency expectations.</a:t>
            </a:r>
            <a:endParaRPr sz="1250">
              <a:solidFill>
                <a:schemeClr val="dk1"/>
              </a:solidFill>
              <a:latin typeface="Calibri"/>
              <a:ea typeface="Calibri"/>
              <a:cs typeface="Calibri"/>
              <a:sym typeface="Calibri"/>
            </a:endParaRPr>
          </a:p>
        </p:txBody>
      </p:sp>
      <p:sp>
        <p:nvSpPr>
          <p:cNvPr id="182" name="Google Shape;182;p8"/>
          <p:cNvSpPr/>
          <p:nvPr/>
        </p:nvSpPr>
        <p:spPr>
          <a:xfrm>
            <a:off x="5989320" y="3108960"/>
            <a:ext cx="292608" cy="29260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3" name="Google Shape;183;p8"/>
          <p:cNvSpPr txBox="1"/>
          <p:nvPr/>
        </p:nvSpPr>
        <p:spPr>
          <a:xfrm>
            <a:off x="5989320" y="3108960"/>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184" name="Google Shape;184;p8"/>
          <p:cNvSpPr txBox="1"/>
          <p:nvPr/>
        </p:nvSpPr>
        <p:spPr>
          <a:xfrm>
            <a:off x="6446520" y="3044952"/>
            <a:ext cx="5120640" cy="8686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50"/>
              <a:buFont typeface="Calibri"/>
              <a:buNone/>
            </a:pPr>
            <a:r>
              <a:rPr lang="en-US" sz="1250">
                <a:solidFill>
                  <a:srgbClr val="24284A"/>
                </a:solidFill>
                <a:latin typeface="Calibri"/>
                <a:ea typeface="Calibri"/>
                <a:cs typeface="Calibri"/>
                <a:sym typeface="Calibri"/>
              </a:rPr>
              <a:t>Decision Tree and Random Forest capture non-linear patterns a linear model alone would miss.</a:t>
            </a:r>
            <a:endParaRPr sz="1250">
              <a:solidFill>
                <a:schemeClr val="dk1"/>
              </a:solidFill>
              <a:latin typeface="Calibri"/>
              <a:ea typeface="Calibri"/>
              <a:cs typeface="Calibri"/>
              <a:sym typeface="Calibri"/>
            </a:endParaRPr>
          </a:p>
        </p:txBody>
      </p:sp>
      <p:sp>
        <p:nvSpPr>
          <p:cNvPr id="185" name="Google Shape;185;p8"/>
          <p:cNvSpPr/>
          <p:nvPr/>
        </p:nvSpPr>
        <p:spPr>
          <a:xfrm>
            <a:off x="5989320" y="4160520"/>
            <a:ext cx="292608" cy="29260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6" name="Google Shape;186;p8"/>
          <p:cNvSpPr txBox="1"/>
          <p:nvPr/>
        </p:nvSpPr>
        <p:spPr>
          <a:xfrm>
            <a:off x="5989320" y="4160520"/>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187" name="Google Shape;187;p8"/>
          <p:cNvSpPr txBox="1"/>
          <p:nvPr/>
        </p:nvSpPr>
        <p:spPr>
          <a:xfrm>
            <a:off x="6446520" y="4096512"/>
            <a:ext cx="5120640" cy="8686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50"/>
              <a:buFont typeface="Calibri"/>
              <a:buNone/>
            </a:pPr>
            <a:r>
              <a:rPr lang="en-US" sz="1250">
                <a:solidFill>
                  <a:srgbClr val="24284A"/>
                </a:solidFill>
                <a:latin typeface="Calibri"/>
                <a:ea typeface="Calibri"/>
                <a:cs typeface="Calibri"/>
                <a:sym typeface="Calibri"/>
              </a:rPr>
              <a:t>All three are scored on the same 70/30 split with Accuracy, Precision, Recall, F1 and ROC-AUC.</a:t>
            </a:r>
            <a:endParaRPr sz="1250">
              <a:solidFill>
                <a:schemeClr val="dk1"/>
              </a:solidFill>
              <a:latin typeface="Calibri"/>
              <a:ea typeface="Calibri"/>
              <a:cs typeface="Calibri"/>
              <a:sym typeface="Calibri"/>
            </a:endParaRPr>
          </a:p>
        </p:txBody>
      </p:sp>
      <p:sp>
        <p:nvSpPr>
          <p:cNvPr id="188" name="Google Shape;188;p8"/>
          <p:cNvSpPr/>
          <p:nvPr/>
        </p:nvSpPr>
        <p:spPr>
          <a:xfrm>
            <a:off x="5989320" y="5212080"/>
            <a:ext cx="292608" cy="29260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9" name="Google Shape;189;p8"/>
          <p:cNvSpPr txBox="1"/>
          <p:nvPr/>
        </p:nvSpPr>
        <p:spPr>
          <a:xfrm>
            <a:off x="5989320" y="5212080"/>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190" name="Google Shape;190;p8"/>
          <p:cNvSpPr txBox="1"/>
          <p:nvPr/>
        </p:nvSpPr>
        <p:spPr>
          <a:xfrm>
            <a:off x="6446520" y="5148072"/>
            <a:ext cx="5120640" cy="86868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24284A"/>
              </a:buClr>
              <a:buSzPts val="1250"/>
              <a:buFont typeface="Calibri"/>
              <a:buNone/>
            </a:pPr>
            <a:r>
              <a:rPr lang="en-US" sz="1250">
                <a:solidFill>
                  <a:srgbClr val="24284A"/>
                </a:solidFill>
                <a:latin typeface="Calibri"/>
                <a:ea typeface="Calibri"/>
                <a:cs typeface="Calibri"/>
                <a:sym typeface="Calibri"/>
              </a:rPr>
              <a:t>Random Forest feature importance also drives feature selection earlier in the pipeline.</a:t>
            </a:r>
            <a:endParaRPr sz="1250">
              <a:solidFill>
                <a:schemeClr val="dk1"/>
              </a:solidFill>
              <a:latin typeface="Calibri"/>
              <a:ea typeface="Calibri"/>
              <a:cs typeface="Calibri"/>
              <a:sym typeface="Calibri"/>
            </a:endParaRPr>
          </a:p>
        </p:txBody>
      </p:sp>
      <p:sp>
        <p:nvSpPr>
          <p:cNvPr id="191" name="Google Shape;191;p8"/>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6</a:t>
            </a:r>
            <a:endParaRPr sz="1000">
              <a:solidFill>
                <a:schemeClr val="dk1"/>
              </a:solidFill>
              <a:latin typeface="Calibri"/>
              <a:ea typeface="Calibri"/>
              <a:cs typeface="Calibri"/>
              <a:sym typeface="Calibri"/>
            </a:endParaRPr>
          </a:p>
        </p:txBody>
      </p:sp>
      <p:sp>
        <p:nvSpPr>
          <p:cNvPr id="192" name="Google Shape;192;p8"/>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7"/>
        <p:cNvGrpSpPr/>
        <p:nvPr/>
      </p:nvGrpSpPr>
      <p:grpSpPr>
        <a:xfrm>
          <a:off x="0" y="0"/>
          <a:ext cx="0" cy="0"/>
          <a:chOff x="0" y="0"/>
          <a:chExt cx="0" cy="0"/>
        </a:xfrm>
      </p:grpSpPr>
      <p:sp>
        <p:nvSpPr>
          <p:cNvPr id="198" name="Google Shape;198;p9"/>
          <p:cNvSpPr txBox="1"/>
          <p:nvPr/>
        </p:nvSpPr>
        <p:spPr>
          <a:xfrm>
            <a:off x="548640" y="411480"/>
            <a:ext cx="91440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How It Works, Step by Step</a:t>
            </a:r>
            <a:endParaRPr sz="3200">
              <a:solidFill>
                <a:schemeClr val="dk1"/>
              </a:solidFill>
              <a:latin typeface="Calibri"/>
              <a:ea typeface="Calibri"/>
              <a:cs typeface="Calibri"/>
              <a:sym typeface="Calibri"/>
            </a:endParaRPr>
          </a:p>
        </p:txBody>
      </p:sp>
      <p:sp>
        <p:nvSpPr>
          <p:cNvPr id="199" name="Google Shape;199;p9"/>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From applicant data to a business outcome</a:t>
            </a:r>
            <a:endParaRPr sz="1600">
              <a:solidFill>
                <a:schemeClr val="dk1"/>
              </a:solidFill>
              <a:latin typeface="Calibri"/>
              <a:ea typeface="Calibri"/>
              <a:cs typeface="Calibri"/>
              <a:sym typeface="Calibri"/>
            </a:endParaRPr>
          </a:p>
        </p:txBody>
      </p:sp>
      <p:sp>
        <p:nvSpPr>
          <p:cNvPr id="200" name="Google Shape;200;p9"/>
          <p:cNvSpPr/>
          <p:nvPr/>
        </p:nvSpPr>
        <p:spPr>
          <a:xfrm>
            <a:off x="548640" y="2743200"/>
            <a:ext cx="1965960" cy="1737360"/>
          </a:xfrm>
          <a:prstGeom prst="roundRect">
            <a:avLst>
              <a:gd name="adj" fmla="val 4211"/>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1" name="Google Shape;201;p9"/>
          <p:cNvSpPr txBox="1"/>
          <p:nvPr/>
        </p:nvSpPr>
        <p:spPr>
          <a:xfrm>
            <a:off x="658368" y="2907792"/>
            <a:ext cx="1746504"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Applicant</a:t>
            </a:r>
            <a:endParaRPr sz="15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Data</a:t>
            </a:r>
            <a:endParaRPr sz="1500">
              <a:solidFill>
                <a:schemeClr val="dk1"/>
              </a:solidFill>
              <a:latin typeface="Calibri"/>
              <a:ea typeface="Calibri"/>
              <a:cs typeface="Calibri"/>
              <a:sym typeface="Calibri"/>
            </a:endParaRPr>
          </a:p>
        </p:txBody>
      </p:sp>
      <p:sp>
        <p:nvSpPr>
          <p:cNvPr id="202" name="Google Shape;202;p9"/>
          <p:cNvSpPr txBox="1"/>
          <p:nvPr/>
        </p:nvSpPr>
        <p:spPr>
          <a:xfrm>
            <a:off x="658368" y="3611880"/>
            <a:ext cx="1746504" cy="777240"/>
          </a:xfrm>
          <a:prstGeom prst="rect">
            <a:avLst/>
          </a:prstGeom>
          <a:noFill/>
          <a:ln>
            <a:noFill/>
          </a:ln>
        </p:spPr>
        <p:txBody>
          <a:bodyPr spcFirstLastPara="1" wrap="square" lIns="0" tIns="0" rIns="0" bIns="0" anchor="ctr" anchorCtr="0">
            <a:noAutofit/>
          </a:bodyPr>
          <a:lstStyle/>
          <a:p>
            <a:pPr marL="0" marR="0" lvl="0" indent="0" algn="ctr" rtl="0">
              <a:lnSpc>
                <a:spcPct val="110000"/>
              </a:lnSpc>
              <a:spcBef>
                <a:spcPts val="0"/>
              </a:spcBef>
              <a:spcAft>
                <a:spcPts val="0"/>
              </a:spcAft>
              <a:buClr>
                <a:srgbClr val="CADCFC"/>
              </a:buClr>
              <a:buSzPts val="1000"/>
              <a:buFont typeface="Calibri"/>
              <a:buNone/>
            </a:pPr>
            <a:r>
              <a:rPr lang="en-US" sz="1000">
                <a:solidFill>
                  <a:srgbClr val="CADCFC"/>
                </a:solidFill>
                <a:latin typeface="Calibri"/>
                <a:ea typeface="Calibri"/>
                <a:cs typeface="Calibri"/>
                <a:sym typeface="Calibri"/>
              </a:rPr>
              <a:t>Filtered, cleaned, and feature-engineered real applicant data</a:t>
            </a:r>
            <a:endParaRPr sz="1000">
              <a:solidFill>
                <a:schemeClr val="dk1"/>
              </a:solidFill>
              <a:latin typeface="Calibri"/>
              <a:ea typeface="Calibri"/>
              <a:cs typeface="Calibri"/>
              <a:sym typeface="Calibri"/>
            </a:endParaRPr>
          </a:p>
        </p:txBody>
      </p:sp>
      <p:sp>
        <p:nvSpPr>
          <p:cNvPr id="203" name="Google Shape;203;p9"/>
          <p:cNvSpPr txBox="1"/>
          <p:nvPr/>
        </p:nvSpPr>
        <p:spPr>
          <a:xfrm>
            <a:off x="2514600" y="3246120"/>
            <a:ext cx="256032"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B8C"/>
              </a:buClr>
              <a:buSzPts val="2200"/>
              <a:buFont typeface="Calibri"/>
              <a:buNone/>
            </a:pPr>
            <a:r>
              <a:rPr lang="en-US" sz="2200" b="1">
                <a:solidFill>
                  <a:srgbClr val="5B6B8C"/>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sp>
        <p:nvSpPr>
          <p:cNvPr id="204" name="Google Shape;204;p9"/>
          <p:cNvSpPr/>
          <p:nvPr/>
        </p:nvSpPr>
        <p:spPr>
          <a:xfrm>
            <a:off x="2770632" y="2743200"/>
            <a:ext cx="1965960" cy="1737360"/>
          </a:xfrm>
          <a:prstGeom prst="roundRect">
            <a:avLst>
              <a:gd name="adj" fmla="val 4211"/>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5" name="Google Shape;205;p9"/>
          <p:cNvSpPr txBox="1"/>
          <p:nvPr/>
        </p:nvSpPr>
        <p:spPr>
          <a:xfrm>
            <a:off x="2880360" y="2907792"/>
            <a:ext cx="1746504"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AI/ML</a:t>
            </a:r>
            <a:endParaRPr sz="15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Model</a:t>
            </a:r>
            <a:endParaRPr sz="1500">
              <a:solidFill>
                <a:schemeClr val="dk1"/>
              </a:solidFill>
              <a:latin typeface="Calibri"/>
              <a:ea typeface="Calibri"/>
              <a:cs typeface="Calibri"/>
              <a:sym typeface="Calibri"/>
            </a:endParaRPr>
          </a:p>
        </p:txBody>
      </p:sp>
      <p:sp>
        <p:nvSpPr>
          <p:cNvPr id="206" name="Google Shape;206;p9"/>
          <p:cNvSpPr txBox="1"/>
          <p:nvPr/>
        </p:nvSpPr>
        <p:spPr>
          <a:xfrm>
            <a:off x="2880360" y="3611880"/>
            <a:ext cx="1746504" cy="777240"/>
          </a:xfrm>
          <a:prstGeom prst="rect">
            <a:avLst/>
          </a:prstGeom>
          <a:noFill/>
          <a:ln>
            <a:noFill/>
          </a:ln>
        </p:spPr>
        <p:txBody>
          <a:bodyPr spcFirstLastPara="1" wrap="square" lIns="0" tIns="0" rIns="0" bIns="0" anchor="ctr" anchorCtr="0">
            <a:noAutofit/>
          </a:bodyPr>
          <a:lstStyle/>
          <a:p>
            <a:pPr marL="0" marR="0" lvl="0" indent="0" algn="ctr" rtl="0">
              <a:lnSpc>
                <a:spcPct val="110000"/>
              </a:lnSpc>
              <a:spcBef>
                <a:spcPts val="0"/>
              </a:spcBef>
              <a:spcAft>
                <a:spcPts val="0"/>
              </a:spcAft>
              <a:buClr>
                <a:srgbClr val="CADCFC"/>
              </a:buClr>
              <a:buSzPts val="1000"/>
              <a:buFont typeface="Calibri"/>
              <a:buNone/>
            </a:pPr>
            <a:r>
              <a:rPr lang="en-US" sz="1000">
                <a:solidFill>
                  <a:srgbClr val="CADCFC"/>
                </a:solidFill>
                <a:latin typeface="Calibri"/>
                <a:ea typeface="Calibri"/>
                <a:cs typeface="Calibri"/>
                <a:sym typeface="Calibri"/>
              </a:rPr>
              <a:t>3 models trained &amp; compared on a 70/30 split</a:t>
            </a:r>
            <a:endParaRPr sz="1000">
              <a:solidFill>
                <a:schemeClr val="dk1"/>
              </a:solidFill>
              <a:latin typeface="Calibri"/>
              <a:ea typeface="Calibri"/>
              <a:cs typeface="Calibri"/>
              <a:sym typeface="Calibri"/>
            </a:endParaRPr>
          </a:p>
        </p:txBody>
      </p:sp>
      <p:sp>
        <p:nvSpPr>
          <p:cNvPr id="207" name="Google Shape;207;p9"/>
          <p:cNvSpPr txBox="1"/>
          <p:nvPr/>
        </p:nvSpPr>
        <p:spPr>
          <a:xfrm>
            <a:off x="4736592" y="3246120"/>
            <a:ext cx="256032"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B8C"/>
              </a:buClr>
              <a:buSzPts val="2200"/>
              <a:buFont typeface="Calibri"/>
              <a:buNone/>
            </a:pPr>
            <a:r>
              <a:rPr lang="en-US" sz="2200" b="1">
                <a:solidFill>
                  <a:srgbClr val="5B6B8C"/>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sp>
        <p:nvSpPr>
          <p:cNvPr id="208" name="Google Shape;208;p9"/>
          <p:cNvSpPr/>
          <p:nvPr/>
        </p:nvSpPr>
        <p:spPr>
          <a:xfrm>
            <a:off x="4992624" y="2743200"/>
            <a:ext cx="1965960" cy="1737360"/>
          </a:xfrm>
          <a:prstGeom prst="roundRect">
            <a:avLst>
              <a:gd name="adj" fmla="val 4211"/>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9" name="Google Shape;209;p9"/>
          <p:cNvSpPr txBox="1"/>
          <p:nvPr/>
        </p:nvSpPr>
        <p:spPr>
          <a:xfrm>
            <a:off x="5102352" y="2907792"/>
            <a:ext cx="1746504"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Default</a:t>
            </a:r>
            <a:endParaRPr sz="15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Probability</a:t>
            </a:r>
            <a:endParaRPr sz="1500">
              <a:solidFill>
                <a:schemeClr val="dk1"/>
              </a:solidFill>
              <a:latin typeface="Calibri"/>
              <a:ea typeface="Calibri"/>
              <a:cs typeface="Calibri"/>
              <a:sym typeface="Calibri"/>
            </a:endParaRPr>
          </a:p>
        </p:txBody>
      </p:sp>
      <p:sp>
        <p:nvSpPr>
          <p:cNvPr id="210" name="Google Shape;210;p9"/>
          <p:cNvSpPr txBox="1"/>
          <p:nvPr/>
        </p:nvSpPr>
        <p:spPr>
          <a:xfrm>
            <a:off x="5102352" y="3611880"/>
            <a:ext cx="1746504" cy="777240"/>
          </a:xfrm>
          <a:prstGeom prst="rect">
            <a:avLst/>
          </a:prstGeom>
          <a:noFill/>
          <a:ln>
            <a:noFill/>
          </a:ln>
        </p:spPr>
        <p:txBody>
          <a:bodyPr spcFirstLastPara="1" wrap="square" lIns="0" tIns="0" rIns="0" bIns="0" anchor="ctr" anchorCtr="0">
            <a:noAutofit/>
          </a:bodyPr>
          <a:lstStyle/>
          <a:p>
            <a:pPr marL="0" marR="0" lvl="0" indent="0" algn="ctr" rtl="0">
              <a:lnSpc>
                <a:spcPct val="110000"/>
              </a:lnSpc>
              <a:spcBef>
                <a:spcPts val="0"/>
              </a:spcBef>
              <a:spcAft>
                <a:spcPts val="0"/>
              </a:spcAft>
              <a:buClr>
                <a:srgbClr val="141B4D"/>
              </a:buClr>
              <a:buSzPts val="1000"/>
              <a:buFont typeface="Calibri"/>
              <a:buNone/>
            </a:pPr>
            <a:r>
              <a:rPr lang="en-US" sz="1000">
                <a:solidFill>
                  <a:srgbClr val="141B4D"/>
                </a:solidFill>
                <a:latin typeface="Calibri"/>
                <a:ea typeface="Calibri"/>
                <a:cs typeface="Calibri"/>
                <a:sym typeface="Calibri"/>
              </a:rPr>
              <a:t>A 0–1 risk score per applicant</a:t>
            </a:r>
            <a:endParaRPr sz="1000">
              <a:solidFill>
                <a:schemeClr val="dk1"/>
              </a:solidFill>
              <a:latin typeface="Calibri"/>
              <a:ea typeface="Calibri"/>
              <a:cs typeface="Calibri"/>
              <a:sym typeface="Calibri"/>
            </a:endParaRPr>
          </a:p>
        </p:txBody>
      </p:sp>
      <p:sp>
        <p:nvSpPr>
          <p:cNvPr id="211" name="Google Shape;211;p9"/>
          <p:cNvSpPr txBox="1"/>
          <p:nvPr/>
        </p:nvSpPr>
        <p:spPr>
          <a:xfrm>
            <a:off x="6958584" y="3246120"/>
            <a:ext cx="256032"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B8C"/>
              </a:buClr>
              <a:buSzPts val="2200"/>
              <a:buFont typeface="Calibri"/>
              <a:buNone/>
            </a:pPr>
            <a:r>
              <a:rPr lang="en-US" sz="2200" b="1">
                <a:solidFill>
                  <a:srgbClr val="5B6B8C"/>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sp>
        <p:nvSpPr>
          <p:cNvPr id="212" name="Google Shape;212;p9"/>
          <p:cNvSpPr/>
          <p:nvPr/>
        </p:nvSpPr>
        <p:spPr>
          <a:xfrm>
            <a:off x="7214616" y="2743200"/>
            <a:ext cx="1965960" cy="1737360"/>
          </a:xfrm>
          <a:prstGeom prst="roundRect">
            <a:avLst>
              <a:gd name="adj" fmla="val 4211"/>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3" name="Google Shape;213;p9"/>
          <p:cNvSpPr txBox="1"/>
          <p:nvPr/>
        </p:nvSpPr>
        <p:spPr>
          <a:xfrm>
            <a:off x="7324344" y="2907792"/>
            <a:ext cx="1746504"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Underwriting</a:t>
            </a:r>
            <a:endParaRPr sz="15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Decision</a:t>
            </a:r>
            <a:endParaRPr sz="1500">
              <a:solidFill>
                <a:schemeClr val="dk1"/>
              </a:solidFill>
              <a:latin typeface="Calibri"/>
              <a:ea typeface="Calibri"/>
              <a:cs typeface="Calibri"/>
              <a:sym typeface="Calibri"/>
            </a:endParaRPr>
          </a:p>
        </p:txBody>
      </p:sp>
      <p:sp>
        <p:nvSpPr>
          <p:cNvPr id="214" name="Google Shape;214;p9"/>
          <p:cNvSpPr txBox="1"/>
          <p:nvPr/>
        </p:nvSpPr>
        <p:spPr>
          <a:xfrm>
            <a:off x="7324344" y="3611880"/>
            <a:ext cx="1746504" cy="777240"/>
          </a:xfrm>
          <a:prstGeom prst="rect">
            <a:avLst/>
          </a:prstGeom>
          <a:noFill/>
          <a:ln>
            <a:noFill/>
          </a:ln>
        </p:spPr>
        <p:txBody>
          <a:bodyPr spcFirstLastPara="1" wrap="square" lIns="0" tIns="0" rIns="0" bIns="0" anchor="ctr" anchorCtr="0">
            <a:noAutofit/>
          </a:bodyPr>
          <a:lstStyle/>
          <a:p>
            <a:pPr marL="0" marR="0" lvl="0" indent="0" algn="ctr" rtl="0">
              <a:lnSpc>
                <a:spcPct val="110000"/>
              </a:lnSpc>
              <a:spcBef>
                <a:spcPts val="0"/>
              </a:spcBef>
              <a:spcAft>
                <a:spcPts val="0"/>
              </a:spcAft>
              <a:buClr>
                <a:srgbClr val="CADCFC"/>
              </a:buClr>
              <a:buSzPts val="1000"/>
              <a:buFont typeface="Calibri"/>
              <a:buNone/>
            </a:pPr>
            <a:r>
              <a:rPr lang="en-US" sz="1000">
                <a:solidFill>
                  <a:srgbClr val="CADCFC"/>
                </a:solidFill>
                <a:latin typeface="Calibri"/>
                <a:ea typeface="Calibri"/>
                <a:cs typeface="Calibri"/>
                <a:sym typeface="Calibri"/>
              </a:rPr>
              <a:t>Approve, reject, or price the loan</a:t>
            </a:r>
            <a:endParaRPr sz="1000">
              <a:solidFill>
                <a:schemeClr val="dk1"/>
              </a:solidFill>
              <a:latin typeface="Calibri"/>
              <a:ea typeface="Calibri"/>
              <a:cs typeface="Calibri"/>
              <a:sym typeface="Calibri"/>
            </a:endParaRPr>
          </a:p>
        </p:txBody>
      </p:sp>
      <p:sp>
        <p:nvSpPr>
          <p:cNvPr id="215" name="Google Shape;215;p9"/>
          <p:cNvSpPr txBox="1"/>
          <p:nvPr/>
        </p:nvSpPr>
        <p:spPr>
          <a:xfrm>
            <a:off x="9180576" y="3246120"/>
            <a:ext cx="256032"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B8C"/>
              </a:buClr>
              <a:buSzPts val="2200"/>
              <a:buFont typeface="Calibri"/>
              <a:buNone/>
            </a:pPr>
            <a:r>
              <a:rPr lang="en-US" sz="2200" b="1">
                <a:solidFill>
                  <a:srgbClr val="5B6B8C"/>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sp>
        <p:nvSpPr>
          <p:cNvPr id="216" name="Google Shape;216;p9"/>
          <p:cNvSpPr/>
          <p:nvPr/>
        </p:nvSpPr>
        <p:spPr>
          <a:xfrm>
            <a:off x="9436608" y="2743200"/>
            <a:ext cx="1965960" cy="1737360"/>
          </a:xfrm>
          <a:prstGeom prst="roundRect">
            <a:avLst>
              <a:gd name="adj" fmla="val 4211"/>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7" name="Google Shape;217;p9"/>
          <p:cNvSpPr txBox="1"/>
          <p:nvPr/>
        </p:nvSpPr>
        <p:spPr>
          <a:xfrm>
            <a:off x="9546336" y="2907792"/>
            <a:ext cx="1746504"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Business</a:t>
            </a:r>
            <a:endParaRPr sz="15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500"/>
              <a:buFont typeface="Cambria"/>
              <a:buNone/>
            </a:pPr>
            <a:r>
              <a:rPr lang="en-US" sz="1500" b="1">
                <a:solidFill>
                  <a:srgbClr val="FFFFFF"/>
                </a:solidFill>
                <a:latin typeface="Cambria"/>
                <a:ea typeface="Cambria"/>
                <a:cs typeface="Cambria"/>
                <a:sym typeface="Cambria"/>
              </a:rPr>
              <a:t>Outcome</a:t>
            </a:r>
            <a:endParaRPr sz="1500">
              <a:solidFill>
                <a:schemeClr val="dk1"/>
              </a:solidFill>
              <a:latin typeface="Calibri"/>
              <a:ea typeface="Calibri"/>
              <a:cs typeface="Calibri"/>
              <a:sym typeface="Calibri"/>
            </a:endParaRPr>
          </a:p>
        </p:txBody>
      </p:sp>
      <p:sp>
        <p:nvSpPr>
          <p:cNvPr id="218" name="Google Shape;218;p9"/>
          <p:cNvSpPr txBox="1"/>
          <p:nvPr/>
        </p:nvSpPr>
        <p:spPr>
          <a:xfrm>
            <a:off x="9546336" y="3611880"/>
            <a:ext cx="1746504" cy="777240"/>
          </a:xfrm>
          <a:prstGeom prst="rect">
            <a:avLst/>
          </a:prstGeom>
          <a:noFill/>
          <a:ln>
            <a:noFill/>
          </a:ln>
        </p:spPr>
        <p:txBody>
          <a:bodyPr spcFirstLastPara="1" wrap="square" lIns="0" tIns="0" rIns="0" bIns="0" anchor="ctr" anchorCtr="0">
            <a:noAutofit/>
          </a:bodyPr>
          <a:lstStyle/>
          <a:p>
            <a:pPr marL="0" marR="0" lvl="0" indent="0" algn="ctr" rtl="0">
              <a:lnSpc>
                <a:spcPct val="110000"/>
              </a:lnSpc>
              <a:spcBef>
                <a:spcPts val="0"/>
              </a:spcBef>
              <a:spcAft>
                <a:spcPts val="0"/>
              </a:spcAft>
              <a:buClr>
                <a:srgbClr val="CADCFC"/>
              </a:buClr>
              <a:buSzPts val="1000"/>
              <a:buFont typeface="Calibri"/>
              <a:buNone/>
            </a:pPr>
            <a:r>
              <a:rPr lang="en-US" sz="1000">
                <a:solidFill>
                  <a:srgbClr val="CADCFC"/>
                </a:solidFill>
                <a:latin typeface="Calibri"/>
                <a:ea typeface="Calibri"/>
                <a:cs typeface="Calibri"/>
                <a:sym typeface="Calibri"/>
              </a:rPr>
              <a:t>Fewer bad loans, faster approvals</a:t>
            </a:r>
            <a:endParaRPr sz="1000">
              <a:solidFill>
                <a:schemeClr val="dk1"/>
              </a:solidFill>
              <a:latin typeface="Calibri"/>
              <a:ea typeface="Calibri"/>
              <a:cs typeface="Calibri"/>
              <a:sym typeface="Calibri"/>
            </a:endParaRPr>
          </a:p>
        </p:txBody>
      </p:sp>
      <p:sp>
        <p:nvSpPr>
          <p:cNvPr id="219" name="Google Shape;219;p9"/>
          <p:cNvSpPr txBox="1"/>
          <p:nvPr/>
        </p:nvSpPr>
        <p:spPr>
          <a:xfrm>
            <a:off x="548640" y="5120640"/>
            <a:ext cx="110642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B8C"/>
              </a:buClr>
              <a:buSzPts val="1300"/>
              <a:buFont typeface="Calibri"/>
              <a:buNone/>
            </a:pPr>
            <a:r>
              <a:rPr lang="en-US" sz="1300" i="1">
                <a:solidFill>
                  <a:srgbClr val="5B6B8C"/>
                </a:solidFill>
                <a:latin typeface="Calibri"/>
                <a:ea typeface="Calibri"/>
                <a:cs typeface="Calibri"/>
                <a:sym typeface="Calibri"/>
              </a:rPr>
              <a:t>Pipeline: Filter → Clean &amp; Engineer Features → Train &amp; Compare 3 Models → Predict — mirroring Business Data → AI/ML System → Prediction → Business Outcome.</a:t>
            </a:r>
            <a:endParaRPr sz="1300">
              <a:solidFill>
                <a:schemeClr val="dk1"/>
              </a:solidFill>
              <a:latin typeface="Calibri"/>
              <a:ea typeface="Calibri"/>
              <a:cs typeface="Calibri"/>
              <a:sym typeface="Calibri"/>
            </a:endParaRPr>
          </a:p>
        </p:txBody>
      </p:sp>
      <p:sp>
        <p:nvSpPr>
          <p:cNvPr id="220" name="Google Shape;220;p9"/>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7</a:t>
            </a:r>
            <a:endParaRPr sz="1000">
              <a:solidFill>
                <a:schemeClr val="dk1"/>
              </a:solidFill>
              <a:latin typeface="Calibri"/>
              <a:ea typeface="Calibri"/>
              <a:cs typeface="Calibri"/>
              <a:sym typeface="Calibri"/>
            </a:endParaRPr>
          </a:p>
        </p:txBody>
      </p:sp>
      <p:sp>
        <p:nvSpPr>
          <p:cNvPr id="221" name="Google Shape;221;p9"/>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289"/>
        <p:cNvGrpSpPr/>
        <p:nvPr/>
      </p:nvGrpSpPr>
      <p:grpSpPr>
        <a:xfrm>
          <a:off x="0" y="0"/>
          <a:ext cx="0" cy="0"/>
          <a:chOff x="0" y="0"/>
          <a:chExt cx="0" cy="0"/>
        </a:xfrm>
      </p:grpSpPr>
      <p:sp>
        <p:nvSpPr>
          <p:cNvPr id="290" name="Google Shape;290;p13"/>
          <p:cNvSpPr txBox="1"/>
          <p:nvPr/>
        </p:nvSpPr>
        <p:spPr>
          <a:xfrm>
            <a:off x="548640" y="411480"/>
            <a:ext cx="91440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Cambria"/>
              <a:buNone/>
            </a:pPr>
            <a:r>
              <a:rPr lang="en-US" sz="3200" b="1">
                <a:solidFill>
                  <a:srgbClr val="FFFFFF"/>
                </a:solidFill>
                <a:latin typeface="Cambria"/>
                <a:ea typeface="Cambria"/>
                <a:cs typeface="Cambria"/>
                <a:sym typeface="Cambria"/>
              </a:rPr>
              <a:t>Expected Business Impact</a:t>
            </a:r>
            <a:endParaRPr sz="3200">
              <a:solidFill>
                <a:schemeClr val="dk1"/>
              </a:solidFill>
              <a:latin typeface="Calibri"/>
              <a:ea typeface="Calibri"/>
              <a:cs typeface="Calibri"/>
              <a:sym typeface="Calibri"/>
            </a:endParaRPr>
          </a:p>
        </p:txBody>
      </p:sp>
      <p:sp>
        <p:nvSpPr>
          <p:cNvPr id="291" name="Google Shape;291;p13"/>
          <p:cNvSpPr txBox="1"/>
          <p:nvPr/>
        </p:nvSpPr>
        <p:spPr>
          <a:xfrm>
            <a:off x="548640" y="932688"/>
            <a:ext cx="100584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600"/>
              <a:buFont typeface="Calibri"/>
              <a:buNone/>
            </a:pPr>
            <a:r>
              <a:rPr lang="en-US" sz="1600" i="1">
                <a:solidFill>
                  <a:srgbClr val="CADCFC"/>
                </a:solidFill>
                <a:latin typeface="Calibri"/>
                <a:ea typeface="Calibri"/>
                <a:cs typeface="Calibri"/>
                <a:sym typeface="Calibri"/>
              </a:rPr>
              <a:t>What the industry is already seeing from AI-based credit scoring</a:t>
            </a:r>
            <a:endParaRPr sz="1600">
              <a:solidFill>
                <a:schemeClr val="dk1"/>
              </a:solidFill>
              <a:latin typeface="Calibri"/>
              <a:ea typeface="Calibri"/>
              <a:cs typeface="Calibri"/>
              <a:sym typeface="Calibri"/>
            </a:endParaRPr>
          </a:p>
        </p:txBody>
      </p:sp>
      <p:sp>
        <p:nvSpPr>
          <p:cNvPr id="292" name="Google Shape;292;p13"/>
          <p:cNvSpPr/>
          <p:nvPr/>
        </p:nvSpPr>
        <p:spPr>
          <a:xfrm>
            <a:off x="548640" y="1783080"/>
            <a:ext cx="2651760" cy="3566160"/>
          </a:xfrm>
          <a:prstGeom prst="roundRect">
            <a:avLst>
              <a:gd name="adj" fmla="val 2759"/>
            </a:avLst>
          </a:prstGeom>
          <a:solidFill>
            <a:srgbClr val="141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3" name="Google Shape;293;p13"/>
          <p:cNvSpPr txBox="1"/>
          <p:nvPr/>
        </p:nvSpPr>
        <p:spPr>
          <a:xfrm>
            <a:off x="731520" y="2057400"/>
            <a:ext cx="22860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2600"/>
              <a:buFont typeface="Cambria"/>
              <a:buNone/>
            </a:pPr>
            <a:r>
              <a:rPr lang="en-US" sz="2600" b="1">
                <a:solidFill>
                  <a:srgbClr val="C89B3C"/>
                </a:solidFill>
                <a:latin typeface="Cambria"/>
                <a:ea typeface="Cambria"/>
                <a:cs typeface="Cambria"/>
                <a:sym typeface="Cambria"/>
              </a:rPr>
              <a:t>15–25%</a:t>
            </a:r>
            <a:endParaRPr sz="2600">
              <a:solidFill>
                <a:schemeClr val="dk1"/>
              </a:solidFill>
              <a:latin typeface="Calibri"/>
              <a:ea typeface="Calibri"/>
              <a:cs typeface="Calibri"/>
              <a:sym typeface="Calibri"/>
            </a:endParaRPr>
          </a:p>
        </p:txBody>
      </p:sp>
      <p:sp>
        <p:nvSpPr>
          <p:cNvPr id="294" name="Google Shape;294;p13"/>
          <p:cNvSpPr txBox="1"/>
          <p:nvPr/>
        </p:nvSpPr>
        <p:spPr>
          <a:xfrm>
            <a:off x="731520" y="2926080"/>
            <a:ext cx="2286000" cy="21945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CADCFC"/>
              </a:buClr>
              <a:buSzPts val="1200"/>
              <a:buFont typeface="Calibri"/>
              <a:buNone/>
            </a:pPr>
            <a:r>
              <a:rPr lang="en-US" sz="1200">
                <a:solidFill>
                  <a:srgbClr val="CADCFC"/>
                </a:solidFill>
                <a:latin typeface="Calibri"/>
                <a:ea typeface="Calibri"/>
                <a:cs typeface="Calibri"/>
                <a:sym typeface="Calibri"/>
              </a:rPr>
              <a:t>improvement in default-prediction accuracy from AI credit-scoring models</a:t>
            </a:r>
            <a:endParaRPr sz="1200">
              <a:solidFill>
                <a:schemeClr val="dk1"/>
              </a:solidFill>
              <a:latin typeface="Calibri"/>
              <a:ea typeface="Calibri"/>
              <a:cs typeface="Calibri"/>
              <a:sym typeface="Calibri"/>
            </a:endParaRPr>
          </a:p>
        </p:txBody>
      </p:sp>
      <p:sp>
        <p:nvSpPr>
          <p:cNvPr id="295" name="Google Shape;295;p13"/>
          <p:cNvSpPr/>
          <p:nvPr/>
        </p:nvSpPr>
        <p:spPr>
          <a:xfrm>
            <a:off x="3364992" y="1783080"/>
            <a:ext cx="2651760" cy="3566160"/>
          </a:xfrm>
          <a:prstGeom prst="roundRect">
            <a:avLst>
              <a:gd name="adj" fmla="val 2759"/>
            </a:avLst>
          </a:prstGeom>
          <a:solidFill>
            <a:srgbClr val="141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13"/>
          <p:cNvSpPr txBox="1"/>
          <p:nvPr/>
        </p:nvSpPr>
        <p:spPr>
          <a:xfrm>
            <a:off x="3547872" y="2057400"/>
            <a:ext cx="22860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2600"/>
              <a:buFont typeface="Cambria"/>
              <a:buNone/>
            </a:pPr>
            <a:r>
              <a:rPr lang="en-US" sz="2600" b="1">
                <a:solidFill>
                  <a:srgbClr val="C89B3C"/>
                </a:solidFill>
                <a:latin typeface="Cambria"/>
                <a:ea typeface="Cambria"/>
                <a:cs typeface="Cambria"/>
                <a:sym typeface="Cambria"/>
              </a:rPr>
              <a:t>Up to 30%</a:t>
            </a:r>
            <a:endParaRPr sz="2600">
              <a:solidFill>
                <a:schemeClr val="dk1"/>
              </a:solidFill>
              <a:latin typeface="Calibri"/>
              <a:ea typeface="Calibri"/>
              <a:cs typeface="Calibri"/>
              <a:sym typeface="Calibri"/>
            </a:endParaRPr>
          </a:p>
        </p:txBody>
      </p:sp>
      <p:sp>
        <p:nvSpPr>
          <p:cNvPr id="297" name="Google Shape;297;p13"/>
          <p:cNvSpPr txBox="1"/>
          <p:nvPr/>
        </p:nvSpPr>
        <p:spPr>
          <a:xfrm>
            <a:off x="3547872" y="2926080"/>
            <a:ext cx="2286000" cy="21945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CADCFC"/>
              </a:buClr>
              <a:buSzPts val="1200"/>
              <a:buFont typeface="Calibri"/>
              <a:buNone/>
            </a:pPr>
            <a:r>
              <a:rPr lang="en-US" sz="1200">
                <a:solidFill>
                  <a:srgbClr val="CADCFC"/>
                </a:solidFill>
                <a:latin typeface="Calibri"/>
                <a:ea typeface="Calibri"/>
                <a:cs typeface="Calibri"/>
                <a:sym typeface="Calibri"/>
              </a:rPr>
              <a:t>reduction in defaults reported where AI scoring has been adopted</a:t>
            </a:r>
            <a:endParaRPr sz="1200">
              <a:solidFill>
                <a:schemeClr val="dk1"/>
              </a:solidFill>
              <a:latin typeface="Calibri"/>
              <a:ea typeface="Calibri"/>
              <a:cs typeface="Calibri"/>
              <a:sym typeface="Calibri"/>
            </a:endParaRPr>
          </a:p>
        </p:txBody>
      </p:sp>
      <p:sp>
        <p:nvSpPr>
          <p:cNvPr id="298" name="Google Shape;298;p13"/>
          <p:cNvSpPr/>
          <p:nvPr/>
        </p:nvSpPr>
        <p:spPr>
          <a:xfrm>
            <a:off x="6181344" y="1783080"/>
            <a:ext cx="2651760" cy="3566160"/>
          </a:xfrm>
          <a:prstGeom prst="roundRect">
            <a:avLst>
              <a:gd name="adj" fmla="val 2759"/>
            </a:avLst>
          </a:prstGeom>
          <a:solidFill>
            <a:srgbClr val="141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9" name="Google Shape;299;p13"/>
          <p:cNvSpPr txBox="1"/>
          <p:nvPr/>
        </p:nvSpPr>
        <p:spPr>
          <a:xfrm>
            <a:off x="6364224" y="2057400"/>
            <a:ext cx="22860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2600"/>
              <a:buFont typeface="Cambria"/>
              <a:buNone/>
            </a:pPr>
            <a:r>
              <a:rPr lang="en-US" sz="2600" b="1">
                <a:solidFill>
                  <a:srgbClr val="C89B3C"/>
                </a:solidFill>
                <a:latin typeface="Cambria"/>
                <a:ea typeface="Cambria"/>
                <a:cs typeface="Cambria"/>
                <a:sym typeface="Cambria"/>
              </a:rPr>
              <a:t>Minutes</a:t>
            </a:r>
            <a:endParaRPr sz="2600">
              <a:solidFill>
                <a:schemeClr val="dk1"/>
              </a:solidFill>
              <a:latin typeface="Calibri"/>
              <a:ea typeface="Calibri"/>
              <a:cs typeface="Calibri"/>
              <a:sym typeface="Calibri"/>
            </a:endParaRPr>
          </a:p>
        </p:txBody>
      </p:sp>
      <p:sp>
        <p:nvSpPr>
          <p:cNvPr id="300" name="Google Shape;300;p13"/>
          <p:cNvSpPr txBox="1"/>
          <p:nvPr/>
        </p:nvSpPr>
        <p:spPr>
          <a:xfrm>
            <a:off x="6364224" y="2926080"/>
            <a:ext cx="2286000" cy="21945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CADCFC"/>
              </a:buClr>
              <a:buSzPts val="1200"/>
              <a:buFont typeface="Calibri"/>
              <a:buNone/>
            </a:pPr>
            <a:r>
              <a:rPr lang="en-US" sz="1200">
                <a:solidFill>
                  <a:srgbClr val="CADCFC"/>
                </a:solidFill>
                <a:latin typeface="Calibri"/>
                <a:ea typeface="Calibri"/>
                <a:cs typeface="Calibri"/>
                <a:sym typeface="Calibri"/>
              </a:rPr>
              <a:t>typical underwriting time with AI, versus 3–5 days manually</a:t>
            </a:r>
            <a:endParaRPr sz="1200">
              <a:solidFill>
                <a:schemeClr val="dk1"/>
              </a:solidFill>
              <a:latin typeface="Calibri"/>
              <a:ea typeface="Calibri"/>
              <a:cs typeface="Calibri"/>
              <a:sym typeface="Calibri"/>
            </a:endParaRPr>
          </a:p>
        </p:txBody>
      </p:sp>
      <p:sp>
        <p:nvSpPr>
          <p:cNvPr id="301" name="Google Shape;301;p13"/>
          <p:cNvSpPr/>
          <p:nvPr/>
        </p:nvSpPr>
        <p:spPr>
          <a:xfrm>
            <a:off x="8997696" y="1783080"/>
            <a:ext cx="2651760" cy="3566160"/>
          </a:xfrm>
          <a:prstGeom prst="roundRect">
            <a:avLst>
              <a:gd name="adj" fmla="val 2759"/>
            </a:avLst>
          </a:prstGeom>
          <a:solidFill>
            <a:srgbClr val="141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2" name="Google Shape;302;p13"/>
          <p:cNvSpPr txBox="1"/>
          <p:nvPr/>
        </p:nvSpPr>
        <p:spPr>
          <a:xfrm>
            <a:off x="9180576" y="2057400"/>
            <a:ext cx="22860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2600"/>
              <a:buFont typeface="Cambria"/>
              <a:buNone/>
            </a:pPr>
            <a:r>
              <a:rPr lang="en-US" sz="2600" b="1">
                <a:solidFill>
                  <a:srgbClr val="C89B3C"/>
                </a:solidFill>
                <a:latin typeface="Cambria"/>
                <a:ea typeface="Cambria"/>
                <a:cs typeface="Cambria"/>
                <a:sym typeface="Cambria"/>
              </a:rPr>
              <a:t>~350 million</a:t>
            </a:r>
            <a:endParaRPr sz="2600">
              <a:solidFill>
                <a:schemeClr val="dk1"/>
              </a:solidFill>
              <a:latin typeface="Calibri"/>
              <a:ea typeface="Calibri"/>
              <a:cs typeface="Calibri"/>
              <a:sym typeface="Calibri"/>
            </a:endParaRPr>
          </a:p>
        </p:txBody>
      </p:sp>
      <p:sp>
        <p:nvSpPr>
          <p:cNvPr id="303" name="Google Shape;303;p13"/>
          <p:cNvSpPr txBox="1"/>
          <p:nvPr/>
        </p:nvSpPr>
        <p:spPr>
          <a:xfrm>
            <a:off x="9180576" y="2926080"/>
            <a:ext cx="2286000" cy="21945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CADCFC"/>
              </a:buClr>
              <a:buSzPts val="1200"/>
              <a:buFont typeface="Calibri"/>
              <a:buNone/>
            </a:pPr>
            <a:r>
              <a:rPr lang="en-US" sz="1200">
                <a:solidFill>
                  <a:srgbClr val="CADCFC"/>
                </a:solidFill>
                <a:latin typeface="Calibri"/>
                <a:ea typeface="Calibri"/>
                <a:cs typeface="Calibri"/>
                <a:sym typeface="Calibri"/>
              </a:rPr>
              <a:t>first-time borrowers lenders could responsibly reach using AI-based assessment</a:t>
            </a:r>
            <a:endParaRPr sz="1200">
              <a:solidFill>
                <a:schemeClr val="dk1"/>
              </a:solidFill>
              <a:latin typeface="Calibri"/>
              <a:ea typeface="Calibri"/>
              <a:cs typeface="Calibri"/>
              <a:sym typeface="Calibri"/>
            </a:endParaRPr>
          </a:p>
        </p:txBody>
      </p:sp>
      <p:sp>
        <p:nvSpPr>
          <p:cNvPr id="304" name="Google Shape;304;p13"/>
          <p:cNvSpPr txBox="1"/>
          <p:nvPr/>
        </p:nvSpPr>
        <p:spPr>
          <a:xfrm>
            <a:off x="548640" y="5532120"/>
            <a:ext cx="110642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98C4"/>
              </a:buClr>
              <a:buSzPts val="950"/>
              <a:buFont typeface="Calibri"/>
              <a:buNone/>
            </a:pPr>
            <a:r>
              <a:rPr lang="en-US" sz="950" i="1">
                <a:solidFill>
                  <a:srgbClr val="8C98C4"/>
                </a:solidFill>
                <a:latin typeface="Calibri"/>
                <a:ea typeface="Calibri"/>
                <a:cs typeface="Calibri"/>
                <a:sym typeface="Calibri"/>
              </a:rPr>
              <a:t>Sources: Indiafintech, The Indian Bank's Guide to AI (2026); AppWrk Insights (2026); ResearchGate, Malhotra et al. (2025)</a:t>
            </a:r>
            <a:endParaRPr sz="950">
              <a:solidFill>
                <a:schemeClr val="dk1"/>
              </a:solidFill>
              <a:latin typeface="Calibri"/>
              <a:ea typeface="Calibri"/>
              <a:cs typeface="Calibri"/>
              <a:sym typeface="Calibri"/>
            </a:endParaRPr>
          </a:p>
        </p:txBody>
      </p:sp>
      <p:sp>
        <p:nvSpPr>
          <p:cNvPr id="305" name="Google Shape;305;p13"/>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C98C4"/>
              </a:buClr>
              <a:buSzPts val="1000"/>
              <a:buFont typeface="Calibri"/>
              <a:buNone/>
            </a:pPr>
            <a:r>
              <a:rPr lang="en-US" sz="1000">
                <a:solidFill>
                  <a:srgbClr val="8C98C4"/>
                </a:solidFill>
                <a:latin typeface="Calibri"/>
                <a:ea typeface="Calibri"/>
                <a:cs typeface="Calibri"/>
                <a:sym typeface="Calibri"/>
              </a:rPr>
              <a:t>11</a:t>
            </a:r>
            <a:endParaRPr sz="1000">
              <a:solidFill>
                <a:schemeClr val="dk1"/>
              </a:solidFill>
              <a:latin typeface="Calibri"/>
              <a:ea typeface="Calibri"/>
              <a:cs typeface="Calibri"/>
              <a:sym typeface="Calibri"/>
            </a:endParaRPr>
          </a:p>
        </p:txBody>
      </p:sp>
      <p:sp>
        <p:nvSpPr>
          <p:cNvPr id="306" name="Google Shape;306;p13"/>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6A8"/>
              </a:buClr>
              <a:buSzPts val="900"/>
              <a:buFont typeface="Calibri"/>
              <a:buNone/>
            </a:pPr>
            <a:r>
              <a:rPr lang="en-US" sz="900">
                <a:solidFill>
                  <a:srgbClr val="6B76A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1"/>
        <p:cNvGrpSpPr/>
        <p:nvPr/>
      </p:nvGrpSpPr>
      <p:grpSpPr>
        <a:xfrm>
          <a:off x="0" y="0"/>
          <a:ext cx="0" cy="0"/>
          <a:chOff x="0" y="0"/>
          <a:chExt cx="0" cy="0"/>
        </a:xfrm>
      </p:grpSpPr>
      <p:sp>
        <p:nvSpPr>
          <p:cNvPr id="312" name="Google Shape;312;p14"/>
          <p:cNvSpPr txBox="1"/>
          <p:nvPr/>
        </p:nvSpPr>
        <p:spPr>
          <a:xfrm>
            <a:off x="548640" y="411480"/>
            <a:ext cx="9601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Risks, Ethics &amp; Responsible AI</a:t>
            </a:r>
            <a:endParaRPr sz="3200">
              <a:solidFill>
                <a:schemeClr val="dk1"/>
              </a:solidFill>
              <a:latin typeface="Calibri"/>
              <a:ea typeface="Calibri"/>
              <a:cs typeface="Calibri"/>
              <a:sym typeface="Calibri"/>
            </a:endParaRPr>
          </a:p>
        </p:txBody>
      </p:sp>
      <p:sp>
        <p:nvSpPr>
          <p:cNvPr id="313" name="Google Shape;313;p14"/>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What must be managed before deployment</a:t>
            </a:r>
            <a:endParaRPr sz="1600">
              <a:solidFill>
                <a:schemeClr val="dk1"/>
              </a:solidFill>
              <a:latin typeface="Calibri"/>
              <a:ea typeface="Calibri"/>
              <a:cs typeface="Calibri"/>
              <a:sym typeface="Calibri"/>
            </a:endParaRPr>
          </a:p>
        </p:txBody>
      </p:sp>
      <p:sp>
        <p:nvSpPr>
          <p:cNvPr id="314" name="Google Shape;314;p14"/>
          <p:cNvSpPr/>
          <p:nvPr/>
        </p:nvSpPr>
        <p:spPr>
          <a:xfrm>
            <a:off x="548640" y="1737360"/>
            <a:ext cx="384048" cy="38404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5" name="Google Shape;315;p14"/>
          <p:cNvSpPr txBox="1"/>
          <p:nvPr/>
        </p:nvSpPr>
        <p:spPr>
          <a:xfrm>
            <a:off x="548640" y="173736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316" name="Google Shape;316;p14"/>
          <p:cNvSpPr txBox="1"/>
          <p:nvPr/>
        </p:nvSpPr>
        <p:spPr>
          <a:xfrm>
            <a:off x="1097280" y="1691640"/>
            <a:ext cx="4846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Data privacy &amp; consent</a:t>
            </a:r>
            <a:endParaRPr sz="1400">
              <a:solidFill>
                <a:schemeClr val="dk1"/>
              </a:solidFill>
              <a:latin typeface="Calibri"/>
              <a:ea typeface="Calibri"/>
              <a:cs typeface="Calibri"/>
              <a:sym typeface="Calibri"/>
            </a:endParaRPr>
          </a:p>
        </p:txBody>
      </p:sp>
      <p:sp>
        <p:nvSpPr>
          <p:cNvPr id="317" name="Google Shape;317;p14"/>
          <p:cNvSpPr txBox="1"/>
          <p:nvPr/>
        </p:nvSpPr>
        <p:spPr>
          <a:xfrm>
            <a:off x="1097280" y="2057400"/>
            <a:ext cx="4846320" cy="10058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Banking/UPI data must be used strictly under the Account Aggregator consent framework.</a:t>
            </a:r>
            <a:endParaRPr sz="1150">
              <a:solidFill>
                <a:schemeClr val="dk1"/>
              </a:solidFill>
              <a:latin typeface="Calibri"/>
              <a:ea typeface="Calibri"/>
              <a:cs typeface="Calibri"/>
              <a:sym typeface="Calibri"/>
            </a:endParaRPr>
          </a:p>
        </p:txBody>
      </p:sp>
      <p:sp>
        <p:nvSpPr>
          <p:cNvPr id="318" name="Google Shape;318;p14"/>
          <p:cNvSpPr/>
          <p:nvPr/>
        </p:nvSpPr>
        <p:spPr>
          <a:xfrm>
            <a:off x="6172200" y="1737360"/>
            <a:ext cx="384048" cy="38404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9" name="Google Shape;319;p14"/>
          <p:cNvSpPr txBox="1"/>
          <p:nvPr/>
        </p:nvSpPr>
        <p:spPr>
          <a:xfrm>
            <a:off x="6172200" y="173736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320" name="Google Shape;320;p14"/>
          <p:cNvSpPr txBox="1"/>
          <p:nvPr/>
        </p:nvSpPr>
        <p:spPr>
          <a:xfrm>
            <a:off x="6720840" y="1691640"/>
            <a:ext cx="4846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Bias &amp; fairness</a:t>
            </a:r>
            <a:endParaRPr sz="1400">
              <a:solidFill>
                <a:schemeClr val="dk1"/>
              </a:solidFill>
              <a:latin typeface="Calibri"/>
              <a:ea typeface="Calibri"/>
              <a:cs typeface="Calibri"/>
              <a:sym typeface="Calibri"/>
            </a:endParaRPr>
          </a:p>
        </p:txBody>
      </p:sp>
      <p:sp>
        <p:nvSpPr>
          <p:cNvPr id="321" name="Google Shape;321;p14"/>
          <p:cNvSpPr txBox="1"/>
          <p:nvPr/>
        </p:nvSpPr>
        <p:spPr>
          <a:xfrm>
            <a:off x="6720840" y="2057400"/>
            <a:ext cx="4846320" cy="10058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Source dataset is deliberately excluded from modeling, so the model learns genuine risk patterns rather than which dataset a row came from.</a:t>
            </a:r>
            <a:endParaRPr sz="1150">
              <a:solidFill>
                <a:schemeClr val="dk1"/>
              </a:solidFill>
              <a:latin typeface="Calibri"/>
              <a:ea typeface="Calibri"/>
              <a:cs typeface="Calibri"/>
              <a:sym typeface="Calibri"/>
            </a:endParaRPr>
          </a:p>
        </p:txBody>
      </p:sp>
      <p:sp>
        <p:nvSpPr>
          <p:cNvPr id="322" name="Google Shape;322;p14"/>
          <p:cNvSpPr/>
          <p:nvPr/>
        </p:nvSpPr>
        <p:spPr>
          <a:xfrm>
            <a:off x="548640" y="3200400"/>
            <a:ext cx="384048" cy="38404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3" name="Google Shape;323;p14"/>
          <p:cNvSpPr txBox="1"/>
          <p:nvPr/>
        </p:nvSpPr>
        <p:spPr>
          <a:xfrm>
            <a:off x="548640" y="320040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324" name="Google Shape;324;p14"/>
          <p:cNvSpPr txBox="1"/>
          <p:nvPr/>
        </p:nvSpPr>
        <p:spPr>
          <a:xfrm>
            <a:off x="1097280" y="3154680"/>
            <a:ext cx="4846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Transparency</a:t>
            </a:r>
            <a:endParaRPr sz="1400">
              <a:solidFill>
                <a:schemeClr val="dk1"/>
              </a:solidFill>
              <a:latin typeface="Calibri"/>
              <a:ea typeface="Calibri"/>
              <a:cs typeface="Calibri"/>
              <a:sym typeface="Calibri"/>
            </a:endParaRPr>
          </a:p>
        </p:txBody>
      </p:sp>
      <p:sp>
        <p:nvSpPr>
          <p:cNvPr id="325" name="Google Shape;325;p14"/>
          <p:cNvSpPr txBox="1"/>
          <p:nvPr/>
        </p:nvSpPr>
        <p:spPr>
          <a:xfrm>
            <a:off x="1097280" y="3520440"/>
            <a:ext cx="4846320" cy="10058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RBI's 2023 Responsible AI discussion paper expects lenders to be able to explain automated credit decisions.</a:t>
            </a:r>
            <a:endParaRPr sz="1150">
              <a:solidFill>
                <a:schemeClr val="dk1"/>
              </a:solidFill>
              <a:latin typeface="Calibri"/>
              <a:ea typeface="Calibri"/>
              <a:cs typeface="Calibri"/>
              <a:sym typeface="Calibri"/>
            </a:endParaRPr>
          </a:p>
        </p:txBody>
      </p:sp>
      <p:sp>
        <p:nvSpPr>
          <p:cNvPr id="326" name="Google Shape;326;p14"/>
          <p:cNvSpPr/>
          <p:nvPr/>
        </p:nvSpPr>
        <p:spPr>
          <a:xfrm>
            <a:off x="6172200" y="3200400"/>
            <a:ext cx="384048" cy="38404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7" name="Google Shape;327;p14"/>
          <p:cNvSpPr txBox="1"/>
          <p:nvPr/>
        </p:nvSpPr>
        <p:spPr>
          <a:xfrm>
            <a:off x="6172200" y="320040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328" name="Google Shape;328;p14"/>
          <p:cNvSpPr txBox="1"/>
          <p:nvPr/>
        </p:nvSpPr>
        <p:spPr>
          <a:xfrm>
            <a:off x="6720840" y="3154680"/>
            <a:ext cx="4846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Data-merge approximations</a:t>
            </a:r>
            <a:endParaRPr sz="1400">
              <a:solidFill>
                <a:schemeClr val="dk1"/>
              </a:solidFill>
              <a:latin typeface="Calibri"/>
              <a:ea typeface="Calibri"/>
              <a:cs typeface="Calibri"/>
              <a:sym typeface="Calibri"/>
            </a:endParaRPr>
          </a:p>
        </p:txBody>
      </p:sp>
      <p:sp>
        <p:nvSpPr>
          <p:cNvPr id="329" name="Google Shape;329;p14"/>
          <p:cNvSpPr txBox="1"/>
          <p:nvPr/>
        </p:nvSpPr>
        <p:spPr>
          <a:xfrm>
            <a:off x="6720840" y="3520440"/>
            <a:ext cx="4846320" cy="10058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Merging two real datasets needed approximations (grade-to-score, monthly-to-annual income) — treat these as estimates, not exact figures.</a:t>
            </a:r>
            <a:endParaRPr sz="1150">
              <a:solidFill>
                <a:schemeClr val="dk1"/>
              </a:solidFill>
              <a:latin typeface="Calibri"/>
              <a:ea typeface="Calibri"/>
              <a:cs typeface="Calibri"/>
              <a:sym typeface="Calibri"/>
            </a:endParaRPr>
          </a:p>
        </p:txBody>
      </p:sp>
      <p:sp>
        <p:nvSpPr>
          <p:cNvPr id="330" name="Google Shape;330;p14"/>
          <p:cNvSpPr/>
          <p:nvPr/>
        </p:nvSpPr>
        <p:spPr>
          <a:xfrm>
            <a:off x="548640" y="4663440"/>
            <a:ext cx="384048" cy="38404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1" name="Google Shape;331;p14"/>
          <p:cNvSpPr txBox="1"/>
          <p:nvPr/>
        </p:nvSpPr>
        <p:spPr>
          <a:xfrm>
            <a:off x="548640" y="466344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332" name="Google Shape;332;p14"/>
          <p:cNvSpPr txBox="1"/>
          <p:nvPr/>
        </p:nvSpPr>
        <p:spPr>
          <a:xfrm>
            <a:off x="1097280" y="4617720"/>
            <a:ext cx="4846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Human oversight</a:t>
            </a:r>
            <a:endParaRPr sz="1400">
              <a:solidFill>
                <a:schemeClr val="dk1"/>
              </a:solidFill>
              <a:latin typeface="Calibri"/>
              <a:ea typeface="Calibri"/>
              <a:cs typeface="Calibri"/>
              <a:sym typeface="Calibri"/>
            </a:endParaRPr>
          </a:p>
        </p:txBody>
      </p:sp>
      <p:sp>
        <p:nvSpPr>
          <p:cNvPr id="333" name="Google Shape;333;p14"/>
          <p:cNvSpPr txBox="1"/>
          <p:nvPr/>
        </p:nvSpPr>
        <p:spPr>
          <a:xfrm>
            <a:off x="1097280" y="4983480"/>
            <a:ext cx="4846320" cy="10058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Borderline and high-value applications should always get human review, not a fully automatic decision.</a:t>
            </a:r>
            <a:endParaRPr sz="1150">
              <a:solidFill>
                <a:schemeClr val="dk1"/>
              </a:solidFill>
              <a:latin typeface="Calibri"/>
              <a:ea typeface="Calibri"/>
              <a:cs typeface="Calibri"/>
              <a:sym typeface="Calibri"/>
            </a:endParaRPr>
          </a:p>
        </p:txBody>
      </p:sp>
      <p:sp>
        <p:nvSpPr>
          <p:cNvPr id="334" name="Google Shape;334;p14"/>
          <p:cNvSpPr/>
          <p:nvPr/>
        </p:nvSpPr>
        <p:spPr>
          <a:xfrm>
            <a:off x="6172200" y="4663440"/>
            <a:ext cx="384048" cy="384048"/>
          </a:xfrm>
          <a:prstGeom prst="ellipse">
            <a:avLst/>
          </a:prstGeom>
          <a:solidFill>
            <a:srgbClr val="C89B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5" name="Google Shape;335;p14"/>
          <p:cNvSpPr txBox="1"/>
          <p:nvPr/>
        </p:nvSpPr>
        <p:spPr>
          <a:xfrm>
            <a:off x="6172200" y="466344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mbria"/>
              <a:buNone/>
            </a:pPr>
            <a:r>
              <a:rPr lang="en-US" sz="1400" b="1">
                <a:solidFill>
                  <a:srgbClr val="FFFFFF"/>
                </a:solidFill>
                <a:latin typeface="Cambria"/>
                <a:ea typeface="Cambria"/>
                <a:cs typeface="Cambria"/>
                <a:sym typeface="Cambria"/>
              </a:rPr>
              <a:t>▲</a:t>
            </a:r>
            <a:endParaRPr sz="1400">
              <a:solidFill>
                <a:schemeClr val="dk1"/>
              </a:solidFill>
              <a:latin typeface="Calibri"/>
              <a:ea typeface="Calibri"/>
              <a:cs typeface="Calibri"/>
              <a:sym typeface="Calibri"/>
            </a:endParaRPr>
          </a:p>
        </p:txBody>
      </p:sp>
      <p:sp>
        <p:nvSpPr>
          <p:cNvPr id="336" name="Google Shape;336;p14"/>
          <p:cNvSpPr txBox="1"/>
          <p:nvPr/>
        </p:nvSpPr>
        <p:spPr>
          <a:xfrm>
            <a:off x="6720840" y="4617720"/>
            <a:ext cx="4846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1400"/>
              <a:buFont typeface="Cambria"/>
              <a:buNone/>
            </a:pPr>
            <a:r>
              <a:rPr lang="en-US" sz="1400" b="1">
                <a:solidFill>
                  <a:srgbClr val="1E2761"/>
                </a:solidFill>
                <a:latin typeface="Cambria"/>
                <a:ea typeface="Cambria"/>
                <a:cs typeface="Cambria"/>
                <a:sym typeface="Cambria"/>
              </a:rPr>
              <a:t>Ongoing monitoring</a:t>
            </a:r>
            <a:endParaRPr sz="1400">
              <a:solidFill>
                <a:schemeClr val="dk1"/>
              </a:solidFill>
              <a:latin typeface="Calibri"/>
              <a:ea typeface="Calibri"/>
              <a:cs typeface="Calibri"/>
              <a:sym typeface="Calibri"/>
            </a:endParaRPr>
          </a:p>
        </p:txBody>
      </p:sp>
      <p:sp>
        <p:nvSpPr>
          <p:cNvPr id="337" name="Google Shape;337;p14"/>
          <p:cNvSpPr txBox="1"/>
          <p:nvPr/>
        </p:nvSpPr>
        <p:spPr>
          <a:xfrm>
            <a:off x="6720840" y="4983480"/>
            <a:ext cx="4846320" cy="10058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150"/>
              <a:buFont typeface="Calibri"/>
              <a:buNone/>
            </a:pPr>
            <a:r>
              <a:rPr lang="en-US" sz="1150">
                <a:solidFill>
                  <a:srgbClr val="24284A"/>
                </a:solidFill>
                <a:latin typeface="Calibri"/>
                <a:ea typeface="Calibri"/>
                <a:cs typeface="Calibri"/>
                <a:sym typeface="Calibri"/>
              </a:rPr>
              <a:t>Models must be retested and retrained as borrower behaviour and the market shift over time.</a:t>
            </a:r>
            <a:endParaRPr sz="1150">
              <a:solidFill>
                <a:schemeClr val="dk1"/>
              </a:solidFill>
              <a:latin typeface="Calibri"/>
              <a:ea typeface="Calibri"/>
              <a:cs typeface="Calibri"/>
              <a:sym typeface="Calibri"/>
            </a:endParaRPr>
          </a:p>
        </p:txBody>
      </p:sp>
      <p:sp>
        <p:nvSpPr>
          <p:cNvPr id="338" name="Google Shape;338;p14"/>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12</a:t>
            </a:r>
            <a:endParaRPr sz="1000">
              <a:solidFill>
                <a:schemeClr val="dk1"/>
              </a:solidFill>
              <a:latin typeface="Calibri"/>
              <a:ea typeface="Calibri"/>
              <a:cs typeface="Calibri"/>
              <a:sym typeface="Calibri"/>
            </a:endParaRPr>
          </a:p>
        </p:txBody>
      </p:sp>
      <p:sp>
        <p:nvSpPr>
          <p:cNvPr id="339" name="Google Shape;339;p14"/>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4"/>
        <p:cNvGrpSpPr/>
        <p:nvPr/>
      </p:nvGrpSpPr>
      <p:grpSpPr>
        <a:xfrm>
          <a:off x="0" y="0"/>
          <a:ext cx="0" cy="0"/>
          <a:chOff x="0" y="0"/>
          <a:chExt cx="0" cy="0"/>
        </a:xfrm>
      </p:grpSpPr>
      <p:sp>
        <p:nvSpPr>
          <p:cNvPr id="345" name="Google Shape;345;p15"/>
          <p:cNvSpPr txBox="1"/>
          <p:nvPr/>
        </p:nvSpPr>
        <p:spPr>
          <a:xfrm>
            <a:off x="548640" y="411480"/>
            <a:ext cx="100584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200"/>
              <a:buFont typeface="Cambria"/>
              <a:buNone/>
            </a:pPr>
            <a:r>
              <a:rPr lang="en-US" sz="3200" b="1">
                <a:solidFill>
                  <a:srgbClr val="1E2761"/>
                </a:solidFill>
                <a:latin typeface="Cambria"/>
                <a:ea typeface="Cambria"/>
                <a:cs typeface="Cambria"/>
                <a:sym typeface="Cambria"/>
              </a:rPr>
              <a:t>AI Tools Used in This Research</a:t>
            </a:r>
            <a:endParaRPr sz="3200">
              <a:solidFill>
                <a:schemeClr val="dk1"/>
              </a:solidFill>
              <a:latin typeface="Calibri"/>
              <a:ea typeface="Calibri"/>
              <a:cs typeface="Calibri"/>
              <a:sym typeface="Calibri"/>
            </a:endParaRPr>
          </a:p>
        </p:txBody>
      </p:sp>
      <p:sp>
        <p:nvSpPr>
          <p:cNvPr id="346" name="Google Shape;346;p15"/>
          <p:cNvSpPr txBox="1"/>
          <p:nvPr/>
        </p:nvSpPr>
        <p:spPr>
          <a:xfrm>
            <a:off x="548640" y="932688"/>
            <a:ext cx="9144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600"/>
              <a:buFont typeface="Calibri"/>
              <a:buNone/>
            </a:pPr>
            <a:r>
              <a:rPr lang="en-US" sz="1600" i="1">
                <a:solidFill>
                  <a:srgbClr val="5B6B8C"/>
                </a:solidFill>
                <a:latin typeface="Calibri"/>
                <a:ea typeface="Calibri"/>
                <a:cs typeface="Calibri"/>
                <a:sym typeface="Calibri"/>
              </a:rPr>
              <a:t>Generative AI as a research and analysis assistant</a:t>
            </a:r>
            <a:endParaRPr sz="1600">
              <a:solidFill>
                <a:schemeClr val="dk1"/>
              </a:solidFill>
              <a:latin typeface="Calibri"/>
              <a:ea typeface="Calibri"/>
              <a:cs typeface="Calibri"/>
              <a:sym typeface="Calibri"/>
            </a:endParaRPr>
          </a:p>
        </p:txBody>
      </p:sp>
      <p:graphicFrame>
        <p:nvGraphicFramePr>
          <p:cNvPr id="347" name="Google Shape;347;p15"/>
          <p:cNvGraphicFramePr/>
          <p:nvPr/>
        </p:nvGraphicFramePr>
        <p:xfrm>
          <a:off x="548640" y="1691640"/>
          <a:ext cx="11064250" cy="2011700"/>
        </p:xfrm>
        <a:graphic>
          <a:graphicData uri="http://schemas.openxmlformats.org/drawingml/2006/table">
            <a:tbl>
              <a:tblPr>
                <a:noFill/>
                <a:tableStyleId>{12F9C897-5D65-4D1F-BBE4-BDA58BF1A5D1}</a:tableStyleId>
              </a:tblPr>
              <a:tblGrid>
                <a:gridCol w="237745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02925">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Tool</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solidFill>
                      <a:srgbClr val="1E2761"/>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Used For</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solidFill>
                      <a:srgbClr val="1E2761"/>
                    </a:solidFill>
                  </a:tcPr>
                </a:tc>
                <a:extLst>
                  <a:ext uri="{0D108BD9-81ED-4DB2-BD59-A6C34878D82A}">
                    <a16:rowId xmlns:a16="http://schemas.microsoft.com/office/drawing/2014/main" val="10000"/>
                  </a:ext>
                </a:extLst>
              </a:tr>
              <a:tr h="502925">
                <a:tc>
                  <a:txBody>
                    <a:bodyPr/>
                    <a:lstStyle/>
                    <a:p>
                      <a:pPr marL="0" marR="0" lvl="0" indent="0" algn="l" rtl="0">
                        <a:spcBef>
                          <a:spcPts val="0"/>
                        </a:spcBef>
                        <a:spcAft>
                          <a:spcPts val="0"/>
                        </a:spcAft>
                        <a:buClr>
                          <a:srgbClr val="24284A"/>
                        </a:buClr>
                        <a:buSzPts val="1300"/>
                        <a:buFont typeface="Calibri"/>
                        <a:buNone/>
                      </a:pPr>
                      <a:r>
                        <a:rPr lang="en-US" sz="1300" u="none" strike="noStrike" cap="none">
                          <a:solidFill>
                            <a:srgbClr val="24284A"/>
                          </a:solidFill>
                          <a:latin typeface="Calibri"/>
                          <a:ea typeface="Calibri"/>
                          <a:cs typeface="Calibri"/>
                          <a:sym typeface="Calibri"/>
                        </a:rPr>
                        <a:t>ChatGPT</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tcPr>
                </a:tc>
                <a:tc>
                  <a:txBody>
                    <a:bodyPr/>
                    <a:lstStyle/>
                    <a:p>
                      <a:pPr marL="0" marR="0" lvl="0" indent="0" algn="l" rtl="0">
                        <a:spcBef>
                          <a:spcPts val="0"/>
                        </a:spcBef>
                        <a:spcAft>
                          <a:spcPts val="0"/>
                        </a:spcAft>
                        <a:buClr>
                          <a:srgbClr val="24284A"/>
                        </a:buClr>
                        <a:buSzPts val="1300"/>
                        <a:buFont typeface="Calibri"/>
                        <a:buNone/>
                      </a:pPr>
                      <a:r>
                        <a:rPr lang="en-US" sz="1300" u="none" strike="noStrike" cap="none">
                          <a:solidFill>
                            <a:srgbClr val="24284A"/>
                          </a:solidFill>
                          <a:latin typeface="Calibri"/>
                          <a:ea typeface="Calibri"/>
                          <a:cs typeface="Calibri"/>
                          <a:sym typeface="Calibri"/>
                        </a:rPr>
                        <a:t>Understanding AI/ML concepts and structuring the case study</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tcPr>
                </a:tc>
                <a:extLst>
                  <a:ext uri="{0D108BD9-81ED-4DB2-BD59-A6C34878D82A}">
                    <a16:rowId xmlns:a16="http://schemas.microsoft.com/office/drawing/2014/main" val="10001"/>
                  </a:ext>
                </a:extLst>
              </a:tr>
              <a:tr h="502925">
                <a:tc>
                  <a:txBody>
                    <a:bodyPr/>
                    <a:lstStyle/>
                    <a:p>
                      <a:pPr marL="0" marR="0" lvl="0" indent="0" algn="l" rtl="0">
                        <a:spcBef>
                          <a:spcPts val="0"/>
                        </a:spcBef>
                        <a:spcAft>
                          <a:spcPts val="0"/>
                        </a:spcAft>
                        <a:buClr>
                          <a:srgbClr val="24284A"/>
                        </a:buClr>
                        <a:buSzPts val="1300"/>
                        <a:buFont typeface="Calibri"/>
                        <a:buNone/>
                      </a:pPr>
                      <a:r>
                        <a:rPr lang="en-US" sz="1300" u="none" strike="noStrike" cap="none">
                          <a:solidFill>
                            <a:srgbClr val="24284A"/>
                          </a:solidFill>
                          <a:latin typeface="Calibri"/>
                          <a:ea typeface="Calibri"/>
                          <a:cs typeface="Calibri"/>
                          <a:sym typeface="Calibri"/>
                        </a:rPr>
                        <a:t>Claude</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tcPr>
                </a:tc>
                <a:tc>
                  <a:txBody>
                    <a:bodyPr/>
                    <a:lstStyle/>
                    <a:p>
                      <a:pPr marL="0" marR="0" lvl="0" indent="0" algn="l" rtl="0">
                        <a:spcBef>
                          <a:spcPts val="0"/>
                        </a:spcBef>
                        <a:spcAft>
                          <a:spcPts val="0"/>
                        </a:spcAft>
                        <a:buClr>
                          <a:srgbClr val="24284A"/>
                        </a:buClr>
                        <a:buSzPts val="1300"/>
                        <a:buFont typeface="Calibri"/>
                        <a:buNone/>
                      </a:pPr>
                      <a:r>
                        <a:rPr lang="en-US" sz="1300" u="none" strike="noStrike" cap="none">
                          <a:solidFill>
                            <a:srgbClr val="24284A"/>
                          </a:solidFill>
                          <a:latin typeface="Calibri"/>
                          <a:ea typeface="Calibri"/>
                          <a:cs typeface="Calibri"/>
                          <a:sym typeface="Calibri"/>
                        </a:rPr>
                        <a:t>Building and explaining the Python logistic-regression model; analysing long research material</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tcPr>
                </a:tc>
                <a:extLst>
                  <a:ext uri="{0D108BD9-81ED-4DB2-BD59-A6C34878D82A}">
                    <a16:rowId xmlns:a16="http://schemas.microsoft.com/office/drawing/2014/main" val="10002"/>
                  </a:ext>
                </a:extLst>
              </a:tr>
              <a:tr h="502925">
                <a:tc>
                  <a:txBody>
                    <a:bodyPr/>
                    <a:lstStyle/>
                    <a:p>
                      <a:pPr marL="0" marR="0" lvl="0" indent="0" algn="l" rtl="0">
                        <a:spcBef>
                          <a:spcPts val="0"/>
                        </a:spcBef>
                        <a:spcAft>
                          <a:spcPts val="0"/>
                        </a:spcAft>
                        <a:buClr>
                          <a:srgbClr val="24284A"/>
                        </a:buClr>
                        <a:buSzPts val="1300"/>
                        <a:buFont typeface="Calibri"/>
                        <a:buNone/>
                      </a:pPr>
                      <a:r>
                        <a:rPr lang="en-US" sz="1300" u="none" strike="noStrike" cap="none">
                          <a:solidFill>
                            <a:srgbClr val="24284A"/>
                          </a:solidFill>
                          <a:latin typeface="Calibri"/>
                          <a:ea typeface="Calibri"/>
                          <a:cs typeface="Calibri"/>
                          <a:sym typeface="Calibri"/>
                        </a:rPr>
                        <a:t>Perplexity</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tcPr>
                </a:tc>
                <a:tc>
                  <a:txBody>
                    <a:bodyPr/>
                    <a:lstStyle/>
                    <a:p>
                      <a:pPr marL="0" marR="0" lvl="0" indent="0" algn="l" rtl="0">
                        <a:spcBef>
                          <a:spcPts val="0"/>
                        </a:spcBef>
                        <a:spcAft>
                          <a:spcPts val="0"/>
                        </a:spcAft>
                        <a:buClr>
                          <a:srgbClr val="24284A"/>
                        </a:buClr>
                        <a:buSzPts val="1300"/>
                        <a:buFont typeface="Calibri"/>
                        <a:buNone/>
                      </a:pPr>
                      <a:r>
                        <a:rPr lang="en-US" sz="1300" u="none" strike="noStrike" cap="none">
                          <a:solidFill>
                            <a:srgbClr val="24284A"/>
                          </a:solidFill>
                          <a:latin typeface="Calibri"/>
                          <a:ea typeface="Calibri"/>
                          <a:cs typeface="Calibri"/>
                          <a:sym typeface="Calibri"/>
                        </a:rPr>
                        <a:t>Finding and cross-checking sources and industry statistics</a:t>
                      </a:r>
                      <a:endParaRPr sz="1300" u="none" strike="noStrike" cap="none">
                        <a:latin typeface="Calibri"/>
                        <a:ea typeface="Calibri"/>
                        <a:cs typeface="Calibri"/>
                        <a:sym typeface="Calibri"/>
                      </a:endParaRPr>
                    </a:p>
                  </a:txBody>
                  <a:tcPr marL="91450" marR="91450" marT="45725" marB="45725" anchor="ctr">
                    <a:lnL w="12700" cap="flat" cmpd="sng">
                      <a:solidFill>
                        <a:srgbClr val="E1E5F5"/>
                      </a:solidFill>
                      <a:prstDash val="solid"/>
                      <a:round/>
                      <a:headEnd type="none" w="sm" len="sm"/>
                      <a:tailEnd type="none" w="sm" len="sm"/>
                    </a:lnL>
                    <a:lnR w="12700" cap="flat" cmpd="sng">
                      <a:solidFill>
                        <a:srgbClr val="E1E5F5"/>
                      </a:solidFill>
                      <a:prstDash val="solid"/>
                      <a:round/>
                      <a:headEnd type="none" w="sm" len="sm"/>
                      <a:tailEnd type="none" w="sm" len="sm"/>
                    </a:lnR>
                    <a:lnT w="12700" cap="flat" cmpd="sng">
                      <a:solidFill>
                        <a:srgbClr val="E1E5F5"/>
                      </a:solidFill>
                      <a:prstDash val="solid"/>
                      <a:round/>
                      <a:headEnd type="none" w="sm" len="sm"/>
                      <a:tailEnd type="none" w="sm" len="sm"/>
                    </a:lnT>
                    <a:lnB w="12700" cap="flat" cmpd="sng">
                      <a:solidFill>
                        <a:srgbClr val="E1E5F5"/>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48" name="Google Shape;348;p15"/>
          <p:cNvSpPr/>
          <p:nvPr/>
        </p:nvSpPr>
        <p:spPr>
          <a:xfrm>
            <a:off x="548640" y="3977640"/>
            <a:ext cx="11064240" cy="2148840"/>
          </a:xfrm>
          <a:prstGeom prst="roundRect">
            <a:avLst>
              <a:gd name="adj" fmla="val 3404"/>
            </a:avLst>
          </a:prstGeom>
          <a:solidFill>
            <a:srgbClr val="F5F7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9" name="Google Shape;349;p15"/>
          <p:cNvSpPr txBox="1"/>
          <p:nvPr/>
        </p:nvSpPr>
        <p:spPr>
          <a:xfrm>
            <a:off x="914400" y="4206240"/>
            <a:ext cx="10058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100"/>
              <a:buFont typeface="Calibri"/>
              <a:buNone/>
            </a:pPr>
            <a:r>
              <a:rPr lang="en-US" sz="1100" b="1">
                <a:solidFill>
                  <a:srgbClr val="5B6B8C"/>
                </a:solidFill>
                <a:latin typeface="Calibri"/>
                <a:ea typeface="Calibri"/>
                <a:cs typeface="Calibri"/>
                <a:sym typeface="Calibri"/>
              </a:rPr>
              <a:t>EXAMPLE PROMPT USED</a:t>
            </a:r>
            <a:endParaRPr sz="1100">
              <a:solidFill>
                <a:schemeClr val="dk1"/>
              </a:solidFill>
              <a:latin typeface="Calibri"/>
              <a:ea typeface="Calibri"/>
              <a:cs typeface="Calibri"/>
              <a:sym typeface="Calibri"/>
            </a:endParaRPr>
          </a:p>
        </p:txBody>
      </p:sp>
      <p:sp>
        <p:nvSpPr>
          <p:cNvPr id="350" name="Google Shape;350;p15"/>
          <p:cNvSpPr txBox="1"/>
          <p:nvPr/>
        </p:nvSpPr>
        <p:spPr>
          <a:xfrm>
            <a:off x="914400" y="4572000"/>
            <a:ext cx="10332720" cy="13716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1E2761"/>
              </a:buClr>
              <a:buSzPts val="1400"/>
              <a:buFont typeface="Calibri"/>
              <a:buNone/>
            </a:pPr>
            <a:r>
              <a:rPr lang="en-US" sz="1400" i="1">
                <a:solidFill>
                  <a:srgbClr val="1E2761"/>
                </a:solidFill>
                <a:latin typeface="Calibri"/>
                <a:ea typeface="Calibri"/>
                <a:cs typeface="Calibri"/>
                <a:sym typeface="Calibri"/>
              </a:rPr>
              <a:t>“Explain how Indian NBFCs use AI/ML for loan default prediction. Focus on the data sources used, the type of model, and evidence of real-world adoption. Provide reliable sources.”</a:t>
            </a:r>
            <a:endParaRPr sz="1400">
              <a:solidFill>
                <a:schemeClr val="dk1"/>
              </a:solidFill>
              <a:latin typeface="Calibri"/>
              <a:ea typeface="Calibri"/>
              <a:cs typeface="Calibri"/>
              <a:sym typeface="Calibri"/>
            </a:endParaRPr>
          </a:p>
        </p:txBody>
      </p:sp>
      <p:sp>
        <p:nvSpPr>
          <p:cNvPr id="351" name="Google Shape;351;p15"/>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13</a:t>
            </a:r>
            <a:endParaRPr sz="1000">
              <a:solidFill>
                <a:schemeClr val="dk1"/>
              </a:solidFill>
              <a:latin typeface="Calibri"/>
              <a:ea typeface="Calibri"/>
              <a:cs typeface="Calibri"/>
              <a:sym typeface="Calibri"/>
            </a:endParaRPr>
          </a:p>
        </p:txBody>
      </p:sp>
      <p:sp>
        <p:nvSpPr>
          <p:cNvPr id="352" name="Google Shape;352;p15"/>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7"/>
        <p:cNvGrpSpPr/>
        <p:nvPr/>
      </p:nvGrpSpPr>
      <p:grpSpPr>
        <a:xfrm>
          <a:off x="0" y="0"/>
          <a:ext cx="0" cy="0"/>
          <a:chOff x="0" y="0"/>
          <a:chExt cx="0" cy="0"/>
        </a:xfrm>
      </p:grpSpPr>
      <p:sp>
        <p:nvSpPr>
          <p:cNvPr id="358" name="Google Shape;358;p16"/>
          <p:cNvSpPr txBox="1"/>
          <p:nvPr/>
        </p:nvSpPr>
        <p:spPr>
          <a:xfrm>
            <a:off x="548640" y="411480"/>
            <a:ext cx="100584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761"/>
              </a:buClr>
              <a:buSzPts val="3000"/>
              <a:buFont typeface="Cambria"/>
              <a:buNone/>
            </a:pPr>
            <a:r>
              <a:rPr lang="en-US" sz="3000" b="1">
                <a:solidFill>
                  <a:srgbClr val="1E2761"/>
                </a:solidFill>
                <a:latin typeface="Cambria"/>
                <a:ea typeface="Cambria"/>
                <a:cs typeface="Cambria"/>
                <a:sym typeface="Cambria"/>
              </a:rPr>
              <a:t>Refining the Prompt — and the Output</a:t>
            </a:r>
            <a:endParaRPr sz="3000">
              <a:solidFill>
                <a:schemeClr val="dk1"/>
              </a:solidFill>
              <a:latin typeface="Calibri"/>
              <a:ea typeface="Calibri"/>
              <a:cs typeface="Calibri"/>
              <a:sym typeface="Calibri"/>
            </a:endParaRPr>
          </a:p>
        </p:txBody>
      </p:sp>
      <p:sp>
        <p:nvSpPr>
          <p:cNvPr id="359" name="Google Shape;359;p16"/>
          <p:cNvSpPr txBox="1"/>
          <p:nvPr/>
        </p:nvSpPr>
        <p:spPr>
          <a:xfrm>
            <a:off x="548640" y="914400"/>
            <a:ext cx="100584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500"/>
              <a:buFont typeface="Calibri"/>
              <a:buNone/>
            </a:pPr>
            <a:r>
              <a:rPr lang="en-US" sz="1500" i="1">
                <a:solidFill>
                  <a:srgbClr val="5B6B8C"/>
                </a:solidFill>
                <a:latin typeface="Calibri"/>
                <a:ea typeface="Calibri"/>
                <a:cs typeface="Calibri"/>
                <a:sym typeface="Calibri"/>
              </a:rPr>
              <a:t>Prompt improvement and critical evaluation of AI output</a:t>
            </a:r>
            <a:endParaRPr sz="1500">
              <a:solidFill>
                <a:schemeClr val="dk1"/>
              </a:solidFill>
              <a:latin typeface="Calibri"/>
              <a:ea typeface="Calibri"/>
              <a:cs typeface="Calibri"/>
              <a:sym typeface="Calibri"/>
            </a:endParaRPr>
          </a:p>
        </p:txBody>
      </p:sp>
      <p:sp>
        <p:nvSpPr>
          <p:cNvPr id="360" name="Google Shape;360;p16"/>
          <p:cNvSpPr/>
          <p:nvPr/>
        </p:nvSpPr>
        <p:spPr>
          <a:xfrm>
            <a:off x="548640" y="1554480"/>
            <a:ext cx="5349240" cy="1874520"/>
          </a:xfrm>
          <a:prstGeom prst="roundRect">
            <a:avLst>
              <a:gd name="adj" fmla="val 3902"/>
            </a:avLst>
          </a:prstGeom>
          <a:solidFill>
            <a:srgbClr val="F1F1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1" name="Google Shape;361;p16"/>
          <p:cNvSpPr txBox="1"/>
          <p:nvPr/>
        </p:nvSpPr>
        <p:spPr>
          <a:xfrm>
            <a:off x="868680" y="1737360"/>
            <a:ext cx="47548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050"/>
              <a:buFont typeface="Calibri"/>
              <a:buNone/>
            </a:pPr>
            <a:r>
              <a:rPr lang="en-US" sz="1050" b="1">
                <a:solidFill>
                  <a:srgbClr val="5B6B8C"/>
                </a:solidFill>
                <a:latin typeface="Calibri"/>
                <a:ea typeface="Calibri"/>
                <a:cs typeface="Calibri"/>
                <a:sym typeface="Calibri"/>
              </a:rPr>
              <a:t>BASIC PROMPT</a:t>
            </a:r>
            <a:endParaRPr sz="1050">
              <a:solidFill>
                <a:schemeClr val="dk1"/>
              </a:solidFill>
              <a:latin typeface="Calibri"/>
              <a:ea typeface="Calibri"/>
              <a:cs typeface="Calibri"/>
              <a:sym typeface="Calibri"/>
            </a:endParaRPr>
          </a:p>
        </p:txBody>
      </p:sp>
      <p:sp>
        <p:nvSpPr>
          <p:cNvPr id="362" name="Google Shape;362;p16"/>
          <p:cNvSpPr txBox="1"/>
          <p:nvPr/>
        </p:nvSpPr>
        <p:spPr>
          <a:xfrm>
            <a:off x="868680" y="2057400"/>
            <a:ext cx="4754880" cy="118872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24284A"/>
              </a:buClr>
              <a:buSzPts val="1400"/>
              <a:buFont typeface="Calibri"/>
              <a:buNone/>
            </a:pPr>
            <a:r>
              <a:rPr lang="en-US" sz="1400" i="1">
                <a:solidFill>
                  <a:srgbClr val="24284A"/>
                </a:solidFill>
                <a:latin typeface="Calibri"/>
                <a:ea typeface="Calibri"/>
                <a:cs typeface="Calibri"/>
                <a:sym typeface="Calibri"/>
              </a:rPr>
              <a:t>“Tell me about AI in loan default prediction.”</a:t>
            </a:r>
            <a:endParaRPr sz="1400">
              <a:solidFill>
                <a:schemeClr val="dk1"/>
              </a:solidFill>
              <a:latin typeface="Calibri"/>
              <a:ea typeface="Calibri"/>
              <a:cs typeface="Calibri"/>
              <a:sym typeface="Calibri"/>
            </a:endParaRPr>
          </a:p>
        </p:txBody>
      </p:sp>
      <p:sp>
        <p:nvSpPr>
          <p:cNvPr id="363" name="Google Shape;363;p16"/>
          <p:cNvSpPr/>
          <p:nvPr/>
        </p:nvSpPr>
        <p:spPr>
          <a:xfrm>
            <a:off x="6080760" y="1554480"/>
            <a:ext cx="5532120" cy="1874520"/>
          </a:xfrm>
          <a:prstGeom prst="roundRect">
            <a:avLst>
              <a:gd name="adj" fmla="val 3902"/>
            </a:avLst>
          </a:prstGeom>
          <a:solidFill>
            <a:srgbClr val="1E276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4" name="Google Shape;364;p16"/>
          <p:cNvSpPr txBox="1"/>
          <p:nvPr/>
        </p:nvSpPr>
        <p:spPr>
          <a:xfrm>
            <a:off x="6400800" y="1737360"/>
            <a:ext cx="4937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1050"/>
              <a:buFont typeface="Calibri"/>
              <a:buNone/>
            </a:pPr>
            <a:r>
              <a:rPr lang="en-US" sz="1050" b="1">
                <a:solidFill>
                  <a:srgbClr val="C89B3C"/>
                </a:solidFill>
                <a:latin typeface="Calibri"/>
                <a:ea typeface="Calibri"/>
                <a:cs typeface="Calibri"/>
                <a:sym typeface="Calibri"/>
              </a:rPr>
              <a:t>IMPROVED PROMPT</a:t>
            </a:r>
            <a:endParaRPr sz="1050">
              <a:solidFill>
                <a:schemeClr val="dk1"/>
              </a:solidFill>
              <a:latin typeface="Calibri"/>
              <a:ea typeface="Calibri"/>
              <a:cs typeface="Calibri"/>
              <a:sym typeface="Calibri"/>
            </a:endParaRPr>
          </a:p>
        </p:txBody>
      </p:sp>
      <p:sp>
        <p:nvSpPr>
          <p:cNvPr id="365" name="Google Shape;365;p16"/>
          <p:cNvSpPr txBox="1"/>
          <p:nvPr/>
        </p:nvSpPr>
        <p:spPr>
          <a:xfrm>
            <a:off x="6400800" y="2011680"/>
            <a:ext cx="4937760" cy="128016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FFFFF"/>
              </a:buClr>
              <a:buSzPts val="1200"/>
              <a:buFont typeface="Calibri"/>
              <a:buNone/>
            </a:pPr>
            <a:r>
              <a:rPr lang="en-US" sz="1200" i="1">
                <a:solidFill>
                  <a:srgbClr val="FFFFFF"/>
                </a:solidFill>
                <a:latin typeface="Calibri"/>
                <a:ea typeface="Calibri"/>
                <a:cs typeface="Calibri"/>
                <a:sym typeface="Calibri"/>
              </a:rPr>
              <a:t>“Act as a credit risk analyst. Explain how Indian NBFCs use AI/ML for loan default prediction, including data sources, model types, real adoption figures, and RBI's Responsible AI expectations. Cite reliable sources.”</a:t>
            </a:r>
            <a:endParaRPr sz="1200">
              <a:solidFill>
                <a:schemeClr val="dk1"/>
              </a:solidFill>
              <a:latin typeface="Calibri"/>
              <a:ea typeface="Calibri"/>
              <a:cs typeface="Calibri"/>
              <a:sym typeface="Calibri"/>
            </a:endParaRPr>
          </a:p>
        </p:txBody>
      </p:sp>
      <p:sp>
        <p:nvSpPr>
          <p:cNvPr id="366" name="Google Shape;366;p16"/>
          <p:cNvSpPr txBox="1"/>
          <p:nvPr/>
        </p:nvSpPr>
        <p:spPr>
          <a:xfrm>
            <a:off x="548640" y="3611880"/>
            <a:ext cx="10058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B8C"/>
              </a:buClr>
              <a:buSzPts val="1100"/>
              <a:buFont typeface="Calibri"/>
              <a:buNone/>
            </a:pPr>
            <a:r>
              <a:rPr lang="en-US" sz="1100" b="1">
                <a:solidFill>
                  <a:srgbClr val="5B6B8C"/>
                </a:solidFill>
                <a:latin typeface="Calibri"/>
                <a:ea typeface="Calibri"/>
                <a:cs typeface="Calibri"/>
                <a:sym typeface="Calibri"/>
              </a:rPr>
              <a:t>WHY IT WORKED BETTER</a:t>
            </a:r>
            <a:endParaRPr sz="1100">
              <a:solidFill>
                <a:schemeClr val="dk1"/>
              </a:solidFill>
              <a:latin typeface="Calibri"/>
              <a:ea typeface="Calibri"/>
              <a:cs typeface="Calibri"/>
              <a:sym typeface="Calibri"/>
            </a:endParaRPr>
          </a:p>
        </p:txBody>
      </p:sp>
      <p:sp>
        <p:nvSpPr>
          <p:cNvPr id="367" name="Google Shape;367;p16"/>
          <p:cNvSpPr txBox="1"/>
          <p:nvPr/>
        </p:nvSpPr>
        <p:spPr>
          <a:xfrm>
            <a:off x="548640" y="3931920"/>
            <a:ext cx="10972800" cy="5029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4284A"/>
              </a:buClr>
              <a:buSzPts val="1300"/>
              <a:buFont typeface="Calibri"/>
              <a:buNone/>
            </a:pPr>
            <a:r>
              <a:rPr lang="en-US" sz="1300">
                <a:solidFill>
                  <a:srgbClr val="24284A"/>
                </a:solidFill>
                <a:latin typeface="Calibri"/>
                <a:ea typeface="Calibri"/>
                <a:cs typeface="Calibri"/>
                <a:sym typeface="Calibri"/>
              </a:rPr>
              <a:t>Assigning a role, naming the industry (Indian NBFCs), and asking for figures + sources turned a generic overview into a specific, checkable, India-focused answer.</a:t>
            </a:r>
            <a:endParaRPr sz="1300">
              <a:solidFill>
                <a:schemeClr val="dk1"/>
              </a:solidFill>
              <a:latin typeface="Calibri"/>
              <a:ea typeface="Calibri"/>
              <a:cs typeface="Calibri"/>
              <a:sym typeface="Calibri"/>
            </a:endParaRPr>
          </a:p>
        </p:txBody>
      </p:sp>
      <p:sp>
        <p:nvSpPr>
          <p:cNvPr id="368" name="Google Shape;368;p16"/>
          <p:cNvSpPr/>
          <p:nvPr/>
        </p:nvSpPr>
        <p:spPr>
          <a:xfrm>
            <a:off x="548640" y="4526280"/>
            <a:ext cx="11064240" cy="1600200"/>
          </a:xfrm>
          <a:prstGeom prst="roundRect">
            <a:avLst>
              <a:gd name="adj" fmla="val 4571"/>
            </a:avLst>
          </a:prstGeom>
          <a:solidFill>
            <a:srgbClr val="FBEF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9" name="Google Shape;369;p16"/>
          <p:cNvSpPr txBox="1"/>
          <p:nvPr/>
        </p:nvSpPr>
        <p:spPr>
          <a:xfrm>
            <a:off x="914400" y="4709160"/>
            <a:ext cx="10058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5A1E"/>
              </a:buClr>
              <a:buSzPts val="1100"/>
              <a:buFont typeface="Calibri"/>
              <a:buNone/>
            </a:pPr>
            <a:r>
              <a:rPr lang="en-US" sz="1100" b="1">
                <a:solidFill>
                  <a:srgbClr val="8A5A1E"/>
                </a:solidFill>
                <a:latin typeface="Calibri"/>
                <a:ea typeface="Calibri"/>
                <a:cs typeface="Calibri"/>
                <a:sym typeface="Calibri"/>
              </a:rPr>
              <a:t>AI OUTPUT CORRECTED DURING RESEARCH</a:t>
            </a:r>
            <a:endParaRPr sz="1100">
              <a:solidFill>
                <a:schemeClr val="dk1"/>
              </a:solidFill>
              <a:latin typeface="Calibri"/>
              <a:ea typeface="Calibri"/>
              <a:cs typeface="Calibri"/>
              <a:sym typeface="Calibri"/>
            </a:endParaRPr>
          </a:p>
        </p:txBody>
      </p:sp>
      <p:sp>
        <p:nvSpPr>
          <p:cNvPr id="370" name="Google Shape;370;p16"/>
          <p:cNvSpPr txBox="1"/>
          <p:nvPr/>
        </p:nvSpPr>
        <p:spPr>
          <a:xfrm>
            <a:off x="914400" y="5029200"/>
            <a:ext cx="10332720" cy="10058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24284A"/>
              </a:buClr>
              <a:buSzPts val="1250"/>
              <a:buFont typeface="Calibri"/>
              <a:buNone/>
            </a:pPr>
            <a:r>
              <a:rPr lang="en-US" sz="1250">
                <a:solidFill>
                  <a:srgbClr val="24284A"/>
                </a:solidFill>
                <a:latin typeface="Calibri"/>
                <a:ea typeface="Calibri"/>
                <a:cs typeface="Calibri"/>
                <a:sym typeface="Calibri"/>
              </a:rPr>
              <a:t>An early AI answer cited generic global adoption figures instead of India-specific ones, with no source. It was verified against the RBI Financial Stability Report and industry publications, then replaced with the sourced, India-specific statistics used in this deck.</a:t>
            </a:r>
            <a:endParaRPr sz="1250">
              <a:solidFill>
                <a:schemeClr val="dk1"/>
              </a:solidFill>
              <a:latin typeface="Calibri"/>
              <a:ea typeface="Calibri"/>
              <a:cs typeface="Calibri"/>
              <a:sym typeface="Calibri"/>
            </a:endParaRPr>
          </a:p>
        </p:txBody>
      </p:sp>
      <p:sp>
        <p:nvSpPr>
          <p:cNvPr id="371" name="Google Shape;371;p16"/>
          <p:cNvSpPr txBox="1"/>
          <p:nvPr/>
        </p:nvSpPr>
        <p:spPr>
          <a:xfrm>
            <a:off x="11475720" y="6473952"/>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14</a:t>
            </a:r>
            <a:endParaRPr sz="1000">
              <a:solidFill>
                <a:schemeClr val="dk1"/>
              </a:solidFill>
              <a:latin typeface="Calibri"/>
              <a:ea typeface="Calibri"/>
              <a:cs typeface="Calibri"/>
              <a:sym typeface="Calibri"/>
            </a:endParaRPr>
          </a:p>
        </p:txBody>
      </p:sp>
      <p:sp>
        <p:nvSpPr>
          <p:cNvPr id="372" name="Google Shape;372;p16"/>
          <p:cNvSpPr txBox="1"/>
          <p:nvPr/>
        </p:nvSpPr>
        <p:spPr>
          <a:xfrm>
            <a:off x="457200" y="647395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AAC8"/>
              </a:buClr>
              <a:buSzPts val="900"/>
              <a:buFont typeface="Calibri"/>
              <a:buNone/>
            </a:pPr>
            <a:r>
              <a:rPr lang="en-US" sz="900">
                <a:solidFill>
                  <a:srgbClr val="A0AAC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377"/>
        <p:cNvGrpSpPr/>
        <p:nvPr/>
      </p:nvGrpSpPr>
      <p:grpSpPr>
        <a:xfrm>
          <a:off x="0" y="0"/>
          <a:ext cx="0" cy="0"/>
          <a:chOff x="0" y="0"/>
          <a:chExt cx="0" cy="0"/>
        </a:xfrm>
      </p:grpSpPr>
      <p:sp>
        <p:nvSpPr>
          <p:cNvPr id="378" name="Google Shape;378;p17"/>
          <p:cNvSpPr/>
          <p:nvPr/>
        </p:nvSpPr>
        <p:spPr>
          <a:xfrm>
            <a:off x="-2286000" y="-2286000"/>
            <a:ext cx="4572000" cy="4572000"/>
          </a:xfrm>
          <a:prstGeom prst="ellipse">
            <a:avLst/>
          </a:prstGeom>
          <a:solidFill>
            <a:srgbClr val="141B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9" name="Google Shape;379;p17"/>
          <p:cNvSpPr txBox="1"/>
          <p:nvPr/>
        </p:nvSpPr>
        <p:spPr>
          <a:xfrm>
            <a:off x="548640" y="365760"/>
            <a:ext cx="105156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000"/>
              <a:buFont typeface="Cambria"/>
              <a:buNone/>
            </a:pPr>
            <a:r>
              <a:rPr lang="en-US" sz="3000" b="1">
                <a:solidFill>
                  <a:srgbClr val="FFFFFF"/>
                </a:solidFill>
                <a:latin typeface="Cambria"/>
                <a:ea typeface="Cambria"/>
                <a:cs typeface="Cambria"/>
                <a:sym typeface="Cambria"/>
              </a:rPr>
              <a:t>Recommendations &amp; Key Takeaways</a:t>
            </a:r>
            <a:endParaRPr sz="3000">
              <a:solidFill>
                <a:schemeClr val="dk1"/>
              </a:solidFill>
              <a:latin typeface="Calibri"/>
              <a:ea typeface="Calibri"/>
              <a:cs typeface="Calibri"/>
              <a:sym typeface="Calibri"/>
            </a:endParaRPr>
          </a:p>
        </p:txBody>
      </p:sp>
      <p:sp>
        <p:nvSpPr>
          <p:cNvPr id="380" name="Google Shape;380;p17"/>
          <p:cNvSpPr txBox="1"/>
          <p:nvPr/>
        </p:nvSpPr>
        <p:spPr>
          <a:xfrm>
            <a:off x="548640" y="1051560"/>
            <a:ext cx="5486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1100"/>
              <a:buFont typeface="Calibri"/>
              <a:buNone/>
            </a:pPr>
            <a:r>
              <a:rPr lang="en-US" sz="1100" b="1">
                <a:solidFill>
                  <a:srgbClr val="C89B3C"/>
                </a:solidFill>
                <a:latin typeface="Calibri"/>
                <a:ea typeface="Calibri"/>
                <a:cs typeface="Calibri"/>
                <a:sym typeface="Calibri"/>
              </a:rPr>
              <a:t>RECOMMENDATION</a:t>
            </a:r>
            <a:endParaRPr sz="1100">
              <a:solidFill>
                <a:schemeClr val="dk1"/>
              </a:solidFill>
              <a:latin typeface="Calibri"/>
              <a:ea typeface="Calibri"/>
              <a:cs typeface="Calibri"/>
              <a:sym typeface="Calibri"/>
            </a:endParaRPr>
          </a:p>
        </p:txBody>
      </p:sp>
      <p:sp>
        <p:nvSpPr>
          <p:cNvPr id="381" name="Google Shape;381;p17"/>
          <p:cNvSpPr txBox="1"/>
          <p:nvPr/>
        </p:nvSpPr>
        <p:spPr>
          <a:xfrm>
            <a:off x="548640" y="1371600"/>
            <a:ext cx="5486400" cy="141720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CADCFC"/>
              </a:buClr>
              <a:buSzPts val="1300"/>
              <a:buFont typeface="Calibri"/>
              <a:buNone/>
            </a:pPr>
            <a:r>
              <a:rPr lang="en-US" sz="1300">
                <a:solidFill>
                  <a:srgbClr val="CADCFC"/>
                </a:solidFill>
                <a:latin typeface="Calibri"/>
                <a:ea typeface="Calibri"/>
                <a:cs typeface="Calibri"/>
                <a:sym typeface="Calibri"/>
              </a:rPr>
              <a:t>NBFCs should validate scoring models on real transaction data, compare multiple model types on the same evaluation split, keep the chosen model interpretable enough for RBI explainability needs, and mandate human review for borderline or high-value cases.</a:t>
            </a:r>
            <a:endParaRPr sz="1300">
              <a:solidFill>
                <a:schemeClr val="dk1"/>
              </a:solidFill>
              <a:latin typeface="Calibri"/>
              <a:ea typeface="Calibri"/>
              <a:cs typeface="Calibri"/>
              <a:sym typeface="Calibri"/>
            </a:endParaRPr>
          </a:p>
        </p:txBody>
      </p:sp>
      <p:sp>
        <p:nvSpPr>
          <p:cNvPr id="382" name="Google Shape;382;p17"/>
          <p:cNvSpPr txBox="1"/>
          <p:nvPr/>
        </p:nvSpPr>
        <p:spPr>
          <a:xfrm>
            <a:off x="548640" y="2834640"/>
            <a:ext cx="5486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1100"/>
              <a:buFont typeface="Calibri"/>
              <a:buNone/>
            </a:pPr>
            <a:r>
              <a:rPr lang="en-US" sz="1100" b="1">
                <a:solidFill>
                  <a:srgbClr val="C89B3C"/>
                </a:solidFill>
                <a:latin typeface="Calibri"/>
                <a:ea typeface="Calibri"/>
                <a:cs typeface="Calibri"/>
                <a:sym typeface="Calibri"/>
              </a:rPr>
              <a:t>LEARNING REFLECTION</a:t>
            </a:r>
            <a:endParaRPr sz="1100">
              <a:solidFill>
                <a:schemeClr val="dk1"/>
              </a:solidFill>
              <a:latin typeface="Calibri"/>
              <a:ea typeface="Calibri"/>
              <a:cs typeface="Calibri"/>
              <a:sym typeface="Calibri"/>
            </a:endParaRPr>
          </a:p>
        </p:txBody>
      </p:sp>
      <p:sp>
        <p:nvSpPr>
          <p:cNvPr id="383" name="Google Shape;383;p17"/>
          <p:cNvSpPr txBox="1"/>
          <p:nvPr/>
        </p:nvSpPr>
        <p:spPr>
          <a:xfrm>
            <a:off x="548640" y="3154680"/>
            <a:ext cx="5486400" cy="1737300"/>
          </a:xfrm>
          <a:prstGeom prst="rect">
            <a:avLst/>
          </a:prstGeom>
          <a:noFill/>
          <a:ln>
            <a:noFill/>
          </a:ln>
        </p:spPr>
        <p:txBody>
          <a:bodyPr spcFirstLastPara="1" wrap="square" lIns="0" tIns="0" rIns="0" bIns="0" anchor="ctr" anchorCtr="0">
            <a:noAutofit/>
          </a:bodyPr>
          <a:lstStyle/>
          <a:p>
            <a:pPr marL="342900" marR="0" lvl="0" indent="-342900" algn="l" rtl="0">
              <a:lnSpc>
                <a:spcPct val="120000"/>
              </a:lnSpc>
              <a:spcBef>
                <a:spcPts val="0"/>
              </a:spcBef>
              <a:spcAft>
                <a:spcPts val="0"/>
              </a:spcAft>
              <a:buClr>
                <a:srgbClr val="FFFFFF"/>
              </a:buClr>
              <a:buSzPts val="1250"/>
              <a:buFont typeface="Calibri"/>
              <a:buChar char="•"/>
            </a:pPr>
            <a:r>
              <a:rPr lang="en-US" sz="1250">
                <a:solidFill>
                  <a:srgbClr val="FFFFFF"/>
                </a:solidFill>
                <a:latin typeface="Calibri"/>
                <a:ea typeface="Calibri"/>
                <a:cs typeface="Calibri"/>
                <a:sym typeface="Calibri"/>
              </a:rPr>
              <a:t>Training and comparing three real models (Logistic Regression, Decision Tree, Random Forest) showed how model choice trades off interpretability against accuracy.</a:t>
            </a:r>
            <a:br>
              <a:rPr lang="en-US" sz="1250">
                <a:solidFill>
                  <a:srgbClr val="FFFFFF"/>
                </a:solidFill>
                <a:latin typeface="Calibri"/>
                <a:ea typeface="Calibri"/>
                <a:cs typeface="Calibri"/>
                <a:sym typeface="Calibri"/>
              </a:rPr>
            </a:br>
            <a:endParaRPr sz="1250">
              <a:solidFill>
                <a:schemeClr val="dk1"/>
              </a:solidFill>
              <a:latin typeface="Calibri"/>
              <a:ea typeface="Calibri"/>
              <a:cs typeface="Calibri"/>
              <a:sym typeface="Calibri"/>
            </a:endParaRPr>
          </a:p>
          <a:p>
            <a:pPr marL="342900" marR="0" lvl="0" indent="-342900" algn="l" rtl="0">
              <a:lnSpc>
                <a:spcPct val="120000"/>
              </a:lnSpc>
              <a:spcBef>
                <a:spcPts val="600"/>
              </a:spcBef>
              <a:spcAft>
                <a:spcPts val="0"/>
              </a:spcAft>
              <a:buClr>
                <a:srgbClr val="FFFFFF"/>
              </a:buClr>
              <a:buSzPts val="1250"/>
              <a:buFont typeface="Calibri"/>
              <a:buChar char="•"/>
            </a:pPr>
            <a:r>
              <a:rPr lang="en-US" sz="1250">
                <a:solidFill>
                  <a:srgbClr val="FFFFFF"/>
                </a:solidFill>
                <a:latin typeface="Calibri"/>
                <a:ea typeface="Calibri"/>
                <a:cs typeface="Calibri"/>
                <a:sym typeface="Calibri"/>
              </a:rPr>
              <a:t>Learned that prompt specificity (role, scope, request for sources) sharply changes research quality.</a:t>
            </a:r>
            <a:br>
              <a:rPr lang="en-US" sz="1250">
                <a:solidFill>
                  <a:srgbClr val="FFFFFF"/>
                </a:solidFill>
                <a:latin typeface="Calibri"/>
                <a:ea typeface="Calibri"/>
                <a:cs typeface="Calibri"/>
                <a:sym typeface="Calibri"/>
              </a:rPr>
            </a:br>
            <a:endParaRPr sz="1250">
              <a:solidFill>
                <a:schemeClr val="dk1"/>
              </a:solidFill>
              <a:latin typeface="Calibri"/>
              <a:ea typeface="Calibri"/>
              <a:cs typeface="Calibri"/>
              <a:sym typeface="Calibri"/>
            </a:endParaRPr>
          </a:p>
          <a:p>
            <a:pPr marL="342900" marR="0" lvl="0" indent="-342900" algn="l" rtl="0">
              <a:lnSpc>
                <a:spcPct val="120000"/>
              </a:lnSpc>
              <a:spcBef>
                <a:spcPts val="600"/>
              </a:spcBef>
              <a:spcAft>
                <a:spcPts val="0"/>
              </a:spcAft>
              <a:buClr>
                <a:srgbClr val="FFFFFF"/>
              </a:buClr>
              <a:buSzPts val="1250"/>
              <a:buFont typeface="Calibri"/>
              <a:buChar char="•"/>
            </a:pPr>
            <a:r>
              <a:rPr lang="en-US" sz="1250">
                <a:solidFill>
                  <a:srgbClr val="FFFFFF"/>
                </a:solidFill>
                <a:latin typeface="Calibri"/>
                <a:ea typeface="Calibri"/>
                <a:cs typeface="Calibri"/>
                <a:sym typeface="Calibri"/>
              </a:rPr>
              <a:t>Learned to verify AI-generated statistics against primary sources like RBI reports before using them.</a:t>
            </a:r>
            <a:endParaRPr sz="1250">
              <a:solidFill>
                <a:schemeClr val="dk1"/>
              </a:solidFill>
              <a:latin typeface="Calibri"/>
              <a:ea typeface="Calibri"/>
              <a:cs typeface="Calibri"/>
              <a:sym typeface="Calibri"/>
            </a:endParaRPr>
          </a:p>
        </p:txBody>
      </p:sp>
      <p:sp>
        <p:nvSpPr>
          <p:cNvPr id="384" name="Google Shape;384;p17"/>
          <p:cNvSpPr/>
          <p:nvPr/>
        </p:nvSpPr>
        <p:spPr>
          <a:xfrm>
            <a:off x="6400800" y="1051560"/>
            <a:ext cx="5212200" cy="5029200"/>
          </a:xfrm>
          <a:prstGeom prst="roundRect">
            <a:avLst>
              <a:gd name="adj" fmla="val 1454"/>
            </a:avLst>
          </a:prstGeom>
          <a:solidFill>
            <a:srgbClr val="141B4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5" name="Google Shape;385;p17"/>
          <p:cNvSpPr txBox="1"/>
          <p:nvPr/>
        </p:nvSpPr>
        <p:spPr>
          <a:xfrm>
            <a:off x="6720840" y="1280160"/>
            <a:ext cx="45720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9B3C"/>
              </a:buClr>
              <a:buSzPts val="1100"/>
              <a:buFont typeface="Calibri"/>
              <a:buNone/>
            </a:pPr>
            <a:r>
              <a:rPr lang="en-US" sz="1100" b="1">
                <a:solidFill>
                  <a:srgbClr val="C89B3C"/>
                </a:solidFill>
                <a:latin typeface="Calibri"/>
                <a:ea typeface="Calibri"/>
                <a:cs typeface="Calibri"/>
                <a:sym typeface="Calibri"/>
              </a:rPr>
              <a:t>REFERENCES</a:t>
            </a:r>
            <a:endParaRPr sz="1100">
              <a:solidFill>
                <a:schemeClr val="dk1"/>
              </a:solidFill>
              <a:latin typeface="Calibri"/>
              <a:ea typeface="Calibri"/>
              <a:cs typeface="Calibri"/>
              <a:sym typeface="Calibri"/>
            </a:endParaRPr>
          </a:p>
        </p:txBody>
      </p:sp>
      <p:sp>
        <p:nvSpPr>
          <p:cNvPr id="386" name="Google Shape;386;p17"/>
          <p:cNvSpPr txBox="1"/>
          <p:nvPr/>
        </p:nvSpPr>
        <p:spPr>
          <a:xfrm>
            <a:off x="6720840" y="1714500"/>
            <a:ext cx="4709100" cy="4000500"/>
          </a:xfrm>
          <a:prstGeom prst="rect">
            <a:avLst/>
          </a:prstGeom>
          <a:solidFill>
            <a:srgbClr val="000000">
              <a:alpha val="0"/>
            </a:srgbClr>
          </a:solidFill>
          <a:ln>
            <a:noFill/>
          </a:ln>
        </p:spPr>
        <p:txBody>
          <a:bodyPr spcFirstLastPara="1" wrap="square" lIns="0" tIns="0" rIns="0" bIns="0" anchor="t" anchorCtr="0">
            <a:noAutofit/>
          </a:bodyPr>
          <a:lstStyle/>
          <a:p>
            <a:pPr marL="457200" lvl="0" indent="-311150" algn="l" rtl="0">
              <a:spcBef>
                <a:spcPts val="0"/>
              </a:spcBef>
              <a:spcAft>
                <a:spcPts val="0"/>
              </a:spcAft>
              <a:buClr>
                <a:srgbClr val="CADCFC"/>
              </a:buClr>
              <a:buSzPts val="1300"/>
              <a:buFont typeface="Calibri"/>
              <a:buChar char="●"/>
            </a:pPr>
            <a:r>
              <a:rPr lang="en-US" sz="1300" b="0" i="0" u="none" strike="noStrike">
                <a:solidFill>
                  <a:srgbClr val="CADCFC"/>
                </a:solidFill>
                <a:latin typeface="Calibri"/>
                <a:ea typeface="Calibri"/>
                <a:cs typeface="Calibri"/>
                <a:sym typeface="Calibri"/>
              </a:rPr>
              <a:t>RBI Financial Stability Report (2025)</a:t>
            </a:r>
            <a:endParaRPr sz="1300" b="0" i="0" u="none" strike="noStrike">
              <a:solidFill>
                <a:srgbClr val="CADCFC"/>
              </a:solidFill>
              <a:latin typeface="Calibri"/>
              <a:ea typeface="Calibri"/>
              <a:cs typeface="Calibri"/>
              <a:sym typeface="Calibri"/>
            </a:endParaRPr>
          </a:p>
          <a:p>
            <a:pPr marL="457200" lvl="0" indent="-311150" algn="l" rtl="0">
              <a:spcBef>
                <a:spcPts val="1800"/>
              </a:spcBef>
              <a:spcAft>
                <a:spcPts val="0"/>
              </a:spcAft>
              <a:buClr>
                <a:srgbClr val="CADCFC"/>
              </a:buClr>
              <a:buSzPts val="1300"/>
              <a:buFont typeface="Calibri"/>
              <a:buChar char="●"/>
            </a:pPr>
            <a:r>
              <a:rPr lang="en-US" sz="1300" b="0" i="0" u="none" strike="noStrike">
                <a:solidFill>
                  <a:srgbClr val="CADCFC"/>
                </a:solidFill>
                <a:latin typeface="Calibri"/>
                <a:ea typeface="Calibri"/>
                <a:cs typeface="Calibri"/>
                <a:sym typeface="Calibri"/>
              </a:rPr>
              <a:t>Indiafintech, The Indian Bank's Guide to AI (2026)</a:t>
            </a:r>
            <a:endParaRPr sz="1300" b="0" i="0" u="none" strike="noStrike">
              <a:solidFill>
                <a:srgbClr val="CADCFC"/>
              </a:solidFill>
              <a:latin typeface="Calibri"/>
              <a:ea typeface="Calibri"/>
              <a:cs typeface="Calibri"/>
              <a:sym typeface="Calibri"/>
            </a:endParaRPr>
          </a:p>
          <a:p>
            <a:pPr marL="457200" lvl="0" indent="-311150" algn="l" rtl="0">
              <a:spcBef>
                <a:spcPts val="1800"/>
              </a:spcBef>
              <a:spcAft>
                <a:spcPts val="0"/>
              </a:spcAft>
              <a:buClr>
                <a:srgbClr val="CADCFC"/>
              </a:buClr>
              <a:buSzPts val="1300"/>
              <a:buFont typeface="Calibri"/>
              <a:buChar char="●"/>
            </a:pPr>
            <a:r>
              <a:rPr lang="en-US" sz="1300" b="0" i="0" u="none" strike="noStrike">
                <a:solidFill>
                  <a:srgbClr val="CADCFC"/>
                </a:solidFill>
                <a:latin typeface="Calibri"/>
                <a:ea typeface="Calibri"/>
                <a:cs typeface="Calibri"/>
                <a:sym typeface="Calibri"/>
              </a:rPr>
              <a:t>AppWrk Insights, AI in NBFC Lending (2026)</a:t>
            </a:r>
            <a:endParaRPr sz="1300" b="0" i="0" u="none" strike="noStrike">
              <a:solidFill>
                <a:srgbClr val="CADCFC"/>
              </a:solidFill>
              <a:latin typeface="Calibri"/>
              <a:ea typeface="Calibri"/>
              <a:cs typeface="Calibri"/>
              <a:sym typeface="Calibri"/>
            </a:endParaRPr>
          </a:p>
          <a:p>
            <a:pPr marL="457200" lvl="0" indent="-311150" algn="l" rtl="0">
              <a:spcBef>
                <a:spcPts val="1800"/>
              </a:spcBef>
              <a:spcAft>
                <a:spcPts val="0"/>
              </a:spcAft>
              <a:buClr>
                <a:srgbClr val="CADCFC"/>
              </a:buClr>
              <a:buSzPts val="1300"/>
              <a:buFont typeface="Calibri"/>
              <a:buChar char="●"/>
            </a:pPr>
            <a:r>
              <a:rPr lang="en-US" sz="1300" b="0" i="0" u="none" strike="noStrike">
                <a:solidFill>
                  <a:srgbClr val="CADCFC"/>
                </a:solidFill>
                <a:latin typeface="Calibri"/>
                <a:ea typeface="Calibri"/>
                <a:cs typeface="Calibri"/>
                <a:sym typeface="Calibri"/>
              </a:rPr>
              <a:t>Biz2X, AI Credit Decisioning for Banks &amp; NBFCs (2025)</a:t>
            </a:r>
            <a:endParaRPr sz="1300" b="0" i="0" u="none" strike="noStrike">
              <a:solidFill>
                <a:srgbClr val="CADCFC"/>
              </a:solidFill>
              <a:latin typeface="Calibri"/>
              <a:ea typeface="Calibri"/>
              <a:cs typeface="Calibri"/>
              <a:sym typeface="Calibri"/>
            </a:endParaRPr>
          </a:p>
          <a:p>
            <a:pPr marL="457200" lvl="0" indent="-311150" algn="l" rtl="0">
              <a:spcBef>
                <a:spcPts val="1800"/>
              </a:spcBef>
              <a:spcAft>
                <a:spcPts val="0"/>
              </a:spcAft>
              <a:buClr>
                <a:srgbClr val="CADCFC"/>
              </a:buClr>
              <a:buSzPts val="1300"/>
              <a:buFont typeface="Calibri"/>
              <a:buChar char="●"/>
            </a:pPr>
            <a:r>
              <a:rPr lang="en-US" sz="1300" b="0" i="0" u="none" strike="noStrike">
                <a:solidFill>
                  <a:srgbClr val="CADCFC"/>
                </a:solidFill>
                <a:latin typeface="Calibri"/>
                <a:ea typeface="Calibri"/>
                <a:cs typeface="Calibri"/>
                <a:sym typeface="Calibri"/>
              </a:rPr>
              <a:t>Malhotra et al., ResearchGate (2025)</a:t>
            </a:r>
            <a:endParaRPr sz="1300" b="0" i="0" u="none" strike="noStrike">
              <a:solidFill>
                <a:srgbClr val="CADCFC"/>
              </a:solidFill>
              <a:latin typeface="Calibri"/>
              <a:ea typeface="Calibri"/>
              <a:cs typeface="Calibri"/>
              <a:sym typeface="Calibri"/>
            </a:endParaRPr>
          </a:p>
          <a:p>
            <a:pPr marL="457200" lvl="0" indent="-311150" algn="l" rtl="0">
              <a:spcBef>
                <a:spcPts val="1800"/>
              </a:spcBef>
              <a:spcAft>
                <a:spcPts val="0"/>
              </a:spcAft>
              <a:buClr>
                <a:srgbClr val="CADCFC"/>
              </a:buClr>
              <a:buSzPts val="1300"/>
              <a:buFont typeface="Calibri"/>
              <a:buChar char="●"/>
            </a:pPr>
            <a:r>
              <a:rPr lang="en-US" sz="1300" b="0" i="0" u="none" strike="noStrike">
                <a:solidFill>
                  <a:srgbClr val="CADCFC"/>
                </a:solidFill>
                <a:latin typeface="Calibri"/>
                <a:ea typeface="Calibri"/>
                <a:cs typeface="Calibri"/>
                <a:sym typeface="Calibri"/>
              </a:rPr>
              <a:t>Kaggle: Credit Risk Dataset; Loan Default Dataset</a:t>
            </a:r>
            <a:endParaRPr sz="1300" b="0" i="0" u="none" strike="noStrike">
              <a:solidFill>
                <a:srgbClr val="CADCFC"/>
              </a:solidFill>
              <a:latin typeface="Calibri"/>
              <a:ea typeface="Calibri"/>
              <a:cs typeface="Calibri"/>
              <a:sym typeface="Calibri"/>
            </a:endParaRPr>
          </a:p>
        </p:txBody>
      </p:sp>
      <p:sp>
        <p:nvSpPr>
          <p:cNvPr id="387" name="Google Shape;387;p17"/>
          <p:cNvSpPr txBox="1"/>
          <p:nvPr/>
        </p:nvSpPr>
        <p:spPr>
          <a:xfrm>
            <a:off x="11475720" y="6473952"/>
            <a:ext cx="457200" cy="274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C98C4"/>
              </a:buClr>
              <a:buSzPts val="1000"/>
              <a:buFont typeface="Calibri"/>
              <a:buNone/>
            </a:pPr>
            <a:r>
              <a:rPr lang="en-US" sz="1000">
                <a:solidFill>
                  <a:srgbClr val="8C98C4"/>
                </a:solidFill>
                <a:latin typeface="Calibri"/>
                <a:ea typeface="Calibri"/>
                <a:cs typeface="Calibri"/>
                <a:sym typeface="Calibri"/>
              </a:rPr>
              <a:t>15</a:t>
            </a:r>
            <a:endParaRPr sz="1000">
              <a:solidFill>
                <a:schemeClr val="dk1"/>
              </a:solidFill>
              <a:latin typeface="Calibri"/>
              <a:ea typeface="Calibri"/>
              <a:cs typeface="Calibri"/>
              <a:sym typeface="Calibri"/>
            </a:endParaRPr>
          </a:p>
        </p:txBody>
      </p:sp>
      <p:sp>
        <p:nvSpPr>
          <p:cNvPr id="388" name="Google Shape;388;p17"/>
          <p:cNvSpPr txBox="1"/>
          <p:nvPr/>
        </p:nvSpPr>
        <p:spPr>
          <a:xfrm>
            <a:off x="457200" y="6473952"/>
            <a:ext cx="5486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6A8"/>
              </a:buClr>
              <a:buSzPts val="900"/>
              <a:buFont typeface="Calibri"/>
              <a:buNone/>
            </a:pPr>
            <a:r>
              <a:rPr lang="en-US" sz="900">
                <a:solidFill>
                  <a:srgbClr val="6B76A8"/>
                </a:solidFill>
                <a:latin typeface="Calibri"/>
                <a:ea typeface="Calibri"/>
                <a:cs typeface="Calibri"/>
                <a:sym typeface="Calibri"/>
              </a:rPr>
              <a:t>AI for Credit Risk Assessment in NBFC Lending</a:t>
            </a:r>
            <a:endParaRPr sz="9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grpSp>
        <p:nvGrpSpPr>
          <p:cNvPr id="393" name="Google Shape;393;p18"/>
          <p:cNvGrpSpPr/>
          <p:nvPr/>
        </p:nvGrpSpPr>
        <p:grpSpPr>
          <a:xfrm>
            <a:off x="548640" y="411480"/>
            <a:ext cx="10058400" cy="548700"/>
            <a:chOff x="0" y="0"/>
            <a:chExt cx="10058400" cy="548700"/>
          </a:xfrm>
        </p:grpSpPr>
        <p:sp>
          <p:nvSpPr>
            <p:cNvPr id="394" name="Google Shape;394;p18"/>
            <p:cNvSpPr/>
            <p:nvPr/>
          </p:nvSpPr>
          <p:spPr>
            <a:xfrm>
              <a:off x="0" y="0"/>
              <a:ext cx="10058400" cy="548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5" name="Google Shape;395;p18"/>
            <p:cNvSpPr txBox="1"/>
            <p:nvPr/>
          </p:nvSpPr>
          <p:spPr>
            <a:xfrm>
              <a:off x="0" y="0"/>
              <a:ext cx="10058400" cy="54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1E2761"/>
                  </a:solidFill>
                  <a:latin typeface="Cambria"/>
                  <a:ea typeface="Cambria"/>
                  <a:cs typeface="Cambria"/>
                  <a:sym typeface="Cambria"/>
                </a:rPr>
                <a:t>Project Contributors &amp; GitHub IDs</a:t>
              </a:r>
              <a:endParaRPr sz="3200" b="1">
                <a:solidFill>
                  <a:srgbClr val="1E2761"/>
                </a:solidFill>
                <a:latin typeface="Cambria"/>
                <a:ea typeface="Cambria"/>
                <a:cs typeface="Cambria"/>
                <a:sym typeface="Cambria"/>
              </a:endParaRPr>
            </a:p>
          </p:txBody>
        </p:sp>
      </p:grpSp>
      <p:grpSp>
        <p:nvGrpSpPr>
          <p:cNvPr id="396" name="Google Shape;396;p18"/>
          <p:cNvGrpSpPr/>
          <p:nvPr/>
        </p:nvGrpSpPr>
        <p:grpSpPr>
          <a:xfrm>
            <a:off x="548640" y="932688"/>
            <a:ext cx="9144000" cy="365700"/>
            <a:chOff x="0" y="0"/>
            <a:chExt cx="9144000" cy="365700"/>
          </a:xfrm>
        </p:grpSpPr>
        <p:sp>
          <p:nvSpPr>
            <p:cNvPr id="397" name="Google Shape;397;p18"/>
            <p:cNvSpPr/>
            <p:nvPr/>
          </p:nvSpPr>
          <p:spPr>
            <a:xfrm>
              <a:off x="0" y="0"/>
              <a:ext cx="9144000" cy="365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8" name="Google Shape;398;p18"/>
            <p:cNvSpPr txBox="1"/>
            <p:nvPr/>
          </p:nvSpPr>
          <p:spPr>
            <a:xfrm>
              <a:off x="0" y="0"/>
              <a:ext cx="9144000" cy="36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i="1">
                  <a:solidFill>
                    <a:srgbClr val="5B6B8C"/>
                  </a:solidFill>
                  <a:latin typeface="Calibri"/>
                  <a:ea typeface="Calibri"/>
                  <a:cs typeface="Calibri"/>
                  <a:sym typeface="Calibri"/>
                </a:rPr>
                <a:t>GitHub handles for team members and project collaborators</a:t>
              </a:r>
              <a:endParaRPr sz="1600" i="1">
                <a:solidFill>
                  <a:srgbClr val="5B6B8C"/>
                </a:solidFill>
                <a:latin typeface="Calibri"/>
                <a:ea typeface="Calibri"/>
                <a:cs typeface="Calibri"/>
                <a:sym typeface="Calibri"/>
              </a:endParaRPr>
            </a:p>
          </p:txBody>
        </p:sp>
      </p:grpSp>
      <p:grpSp>
        <p:nvGrpSpPr>
          <p:cNvPr id="399" name="Google Shape;399;p18"/>
          <p:cNvGrpSpPr/>
          <p:nvPr/>
        </p:nvGrpSpPr>
        <p:grpSpPr>
          <a:xfrm>
            <a:off x="548640" y="1619250"/>
            <a:ext cx="3467100" cy="1905000"/>
            <a:chOff x="0" y="0"/>
            <a:chExt cx="3467100" cy="1905000"/>
          </a:xfrm>
        </p:grpSpPr>
        <p:sp>
          <p:nvSpPr>
            <p:cNvPr id="400" name="Google Shape;400;p18"/>
            <p:cNvSpPr/>
            <p:nvPr/>
          </p:nvSpPr>
          <p:spPr>
            <a:xfrm>
              <a:off x="0" y="0"/>
              <a:ext cx="3467100" cy="1905000"/>
            </a:xfrm>
            <a:prstGeom prst="roundRect">
              <a:avLst>
                <a:gd name="adj" fmla="val 6000"/>
              </a:avLst>
            </a:prstGeom>
            <a:solidFill>
              <a:srgbClr val="FFFFFF"/>
            </a:solidFill>
            <a:ln w="9525"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1" name="Google Shape;401;p18"/>
            <p:cNvSpPr/>
            <p:nvPr/>
          </p:nvSpPr>
          <p:spPr>
            <a:xfrm>
              <a:off x="228600" y="247650"/>
              <a:ext cx="457200" cy="457200"/>
            </a:xfrm>
            <a:prstGeom prst="ellipse">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2" name="Google Shape;402;p18"/>
            <p:cNvSpPr txBox="1"/>
            <p:nvPr/>
          </p:nvSpPr>
          <p:spPr>
            <a:xfrm>
              <a:off x="228600" y="276859"/>
              <a:ext cx="457200" cy="573821"/>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dirty="0">
                  <a:solidFill>
                    <a:srgbClr val="FFFFFF"/>
                  </a:solidFill>
                  <a:latin typeface="Material Icons"/>
                  <a:ea typeface="Material Icons"/>
                  <a:cs typeface="Material Icons"/>
                  <a:sym typeface="Material Icons"/>
                </a:rPr>
                <a:t>code</a:t>
              </a:r>
              <a:endParaRPr sz="2000" b="0" dirty="0">
                <a:solidFill>
                  <a:srgbClr val="FFFFFF"/>
                </a:solidFill>
                <a:latin typeface="Material Icons"/>
                <a:ea typeface="Material Icons"/>
                <a:cs typeface="Material Icons"/>
                <a:sym typeface="Material Icons"/>
              </a:endParaRPr>
            </a:p>
          </p:txBody>
        </p:sp>
        <p:sp>
          <p:nvSpPr>
            <p:cNvPr id="403" name="Google Shape;403;p18"/>
            <p:cNvSpPr txBox="1"/>
            <p:nvPr/>
          </p:nvSpPr>
          <p:spPr>
            <a:xfrm>
              <a:off x="857250" y="266700"/>
              <a:ext cx="2381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dirty="0">
                  <a:solidFill>
                    <a:srgbClr val="1E2761"/>
                  </a:solidFill>
                  <a:latin typeface="Cambria"/>
                  <a:ea typeface="Cambria"/>
                  <a:cs typeface="Cambria"/>
                  <a:sym typeface="Cambria"/>
                </a:rPr>
                <a:t>Anshika Kapoor</a:t>
              </a:r>
              <a:endParaRPr lang="en-US" sz="1150" b="1" dirty="0">
                <a:solidFill>
                  <a:srgbClr val="5B6B8C"/>
                </a:solidFill>
                <a:latin typeface="Calibri"/>
                <a:ea typeface="Cambria"/>
                <a:cs typeface="Calibri"/>
                <a:sym typeface="Calibri"/>
              </a:endParaRPr>
            </a:p>
            <a:p>
              <a:pPr marL="0" lvl="0" indent="0" algn="l" rtl="0">
                <a:spcBef>
                  <a:spcPts val="0"/>
                </a:spcBef>
                <a:spcAft>
                  <a:spcPts val="0"/>
                </a:spcAft>
                <a:buNone/>
              </a:pPr>
              <a:endParaRPr lang="en-IN" sz="1100" b="1" dirty="0">
                <a:solidFill>
                  <a:srgbClr val="C89B3C"/>
                </a:solidFill>
                <a:latin typeface="Calibri"/>
                <a:ea typeface="Calibri"/>
                <a:cs typeface="Calibri"/>
                <a:sym typeface="Calibri"/>
              </a:endParaRPr>
            </a:p>
            <a:p>
              <a:pPr lvl="0"/>
              <a:r>
                <a:rPr lang="en-IN" sz="1150" dirty="0">
                  <a:solidFill>
                    <a:srgbClr val="5B6B8C"/>
                  </a:solidFill>
                  <a:latin typeface="Calibri"/>
                  <a:ea typeface="Calibri"/>
                  <a:cs typeface="Calibri"/>
                  <a:sym typeface="Calibri"/>
                </a:rPr>
                <a:t>https://github.com/anshikakapoor707-coder</a:t>
              </a:r>
              <a:endParaRPr sz="1150" dirty="0">
                <a:solidFill>
                  <a:srgbClr val="5B6B8C"/>
                </a:solidFill>
                <a:latin typeface="Calibri"/>
                <a:ea typeface="Calibri"/>
                <a:cs typeface="Calibri"/>
                <a:sym typeface="Calibri"/>
              </a:endParaRPr>
            </a:p>
          </p:txBody>
        </p:sp>
      </p:grpSp>
      <p:grpSp>
        <p:nvGrpSpPr>
          <p:cNvPr id="404" name="Google Shape;404;p18"/>
          <p:cNvGrpSpPr/>
          <p:nvPr/>
        </p:nvGrpSpPr>
        <p:grpSpPr>
          <a:xfrm>
            <a:off x="4358640" y="1619250"/>
            <a:ext cx="3467100" cy="1905000"/>
            <a:chOff x="0" y="0"/>
            <a:chExt cx="3467100" cy="1905000"/>
          </a:xfrm>
        </p:grpSpPr>
        <p:sp>
          <p:nvSpPr>
            <p:cNvPr id="405" name="Google Shape;405;p18"/>
            <p:cNvSpPr/>
            <p:nvPr/>
          </p:nvSpPr>
          <p:spPr>
            <a:xfrm>
              <a:off x="0" y="0"/>
              <a:ext cx="3467100" cy="1905000"/>
            </a:xfrm>
            <a:prstGeom prst="roundRect">
              <a:avLst>
                <a:gd name="adj" fmla="val 6000"/>
              </a:avLst>
            </a:prstGeom>
            <a:solidFill>
              <a:srgbClr val="FFFFFF"/>
            </a:solidFill>
            <a:ln w="9525"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6" name="Google Shape;406;p18"/>
            <p:cNvSpPr/>
            <p:nvPr/>
          </p:nvSpPr>
          <p:spPr>
            <a:xfrm>
              <a:off x="228600" y="247650"/>
              <a:ext cx="457200" cy="457200"/>
            </a:xfrm>
            <a:prstGeom prst="ellipse">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7" name="Google Shape;407;p18"/>
            <p:cNvSpPr txBox="1"/>
            <p:nvPr/>
          </p:nvSpPr>
          <p:spPr>
            <a:xfrm>
              <a:off x="228600" y="276860"/>
              <a:ext cx="457200" cy="457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dirty="0">
                  <a:solidFill>
                    <a:srgbClr val="FFFFFF"/>
                  </a:solidFill>
                  <a:latin typeface="Material Icons"/>
                  <a:ea typeface="Material Icons"/>
                  <a:cs typeface="Material Icons"/>
                  <a:sym typeface="Material Icons"/>
                </a:rPr>
                <a:t>code</a:t>
              </a:r>
              <a:endParaRPr sz="2000" b="0" dirty="0">
                <a:solidFill>
                  <a:srgbClr val="FFFFFF"/>
                </a:solidFill>
                <a:latin typeface="Material Icons"/>
                <a:ea typeface="Material Icons"/>
                <a:cs typeface="Material Icons"/>
                <a:sym typeface="Material Icons"/>
              </a:endParaRPr>
            </a:p>
          </p:txBody>
        </p:sp>
        <p:sp>
          <p:nvSpPr>
            <p:cNvPr id="408" name="Google Shape;408;p18"/>
            <p:cNvSpPr txBox="1"/>
            <p:nvPr/>
          </p:nvSpPr>
          <p:spPr>
            <a:xfrm>
              <a:off x="857250" y="266700"/>
              <a:ext cx="2381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dirty="0">
                  <a:solidFill>
                    <a:srgbClr val="1E2761"/>
                  </a:solidFill>
                  <a:latin typeface="Cambria"/>
                  <a:ea typeface="Cambria"/>
                  <a:cs typeface="Cambria"/>
                  <a:sym typeface="Cambria"/>
                </a:rPr>
                <a:t>Khushmeet Kaur</a:t>
              </a:r>
              <a:endParaRPr sz="1600" b="1" dirty="0">
                <a:solidFill>
                  <a:srgbClr val="1E2761"/>
                </a:solidFill>
                <a:latin typeface="Cambria"/>
                <a:ea typeface="Cambria"/>
                <a:cs typeface="Cambria"/>
                <a:sym typeface="Cambria"/>
              </a:endParaRPr>
            </a:p>
            <a:p>
              <a:pPr marL="0" lvl="0" indent="0" algn="l" rtl="0">
                <a:spcBef>
                  <a:spcPts val="150"/>
                </a:spcBef>
                <a:spcAft>
                  <a:spcPts val="0"/>
                </a:spcAft>
                <a:buNone/>
              </a:pPr>
              <a:endParaRPr lang="en-IN" sz="1100" b="1" dirty="0">
                <a:solidFill>
                  <a:srgbClr val="C89B3C"/>
                </a:solidFill>
                <a:latin typeface="Calibri"/>
                <a:ea typeface="Calibri"/>
                <a:cs typeface="Calibri"/>
                <a:sym typeface="Calibri"/>
              </a:endParaRPr>
            </a:p>
            <a:p>
              <a:pPr lvl="0">
                <a:spcBef>
                  <a:spcPts val="150"/>
                </a:spcBef>
              </a:pPr>
              <a:r>
                <a:rPr lang="en-IN" sz="1150" dirty="0">
                  <a:solidFill>
                    <a:srgbClr val="5B6B8C"/>
                  </a:solidFill>
                  <a:latin typeface="Calibri"/>
                  <a:ea typeface="Calibri"/>
                  <a:cs typeface="Calibri"/>
                  <a:sym typeface="Calibri"/>
                </a:rPr>
                <a:t>https://github.com/khushmeet07</a:t>
              </a:r>
              <a:endParaRPr sz="1150" dirty="0">
                <a:solidFill>
                  <a:srgbClr val="5B6B8C"/>
                </a:solidFill>
                <a:latin typeface="Calibri"/>
                <a:ea typeface="Calibri"/>
                <a:cs typeface="Calibri"/>
                <a:sym typeface="Calibri"/>
              </a:endParaRPr>
            </a:p>
          </p:txBody>
        </p:sp>
      </p:grpSp>
      <p:grpSp>
        <p:nvGrpSpPr>
          <p:cNvPr id="409" name="Google Shape;409;p18"/>
          <p:cNvGrpSpPr/>
          <p:nvPr/>
        </p:nvGrpSpPr>
        <p:grpSpPr>
          <a:xfrm>
            <a:off x="8168640" y="1619250"/>
            <a:ext cx="3467100" cy="1905000"/>
            <a:chOff x="0" y="0"/>
            <a:chExt cx="3467100" cy="1905000"/>
          </a:xfrm>
        </p:grpSpPr>
        <p:sp>
          <p:nvSpPr>
            <p:cNvPr id="410" name="Google Shape;410;p18"/>
            <p:cNvSpPr/>
            <p:nvPr/>
          </p:nvSpPr>
          <p:spPr>
            <a:xfrm>
              <a:off x="0" y="0"/>
              <a:ext cx="3467100" cy="1905000"/>
            </a:xfrm>
            <a:prstGeom prst="roundRect">
              <a:avLst>
                <a:gd name="adj" fmla="val 6000"/>
              </a:avLst>
            </a:prstGeom>
            <a:solidFill>
              <a:srgbClr val="FFFFFF"/>
            </a:solidFill>
            <a:ln w="9525"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1" name="Google Shape;411;p18"/>
            <p:cNvSpPr/>
            <p:nvPr/>
          </p:nvSpPr>
          <p:spPr>
            <a:xfrm>
              <a:off x="228600" y="247650"/>
              <a:ext cx="457200" cy="457200"/>
            </a:xfrm>
            <a:prstGeom prst="ellipse">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2" name="Google Shape;412;p18"/>
            <p:cNvSpPr txBox="1"/>
            <p:nvPr/>
          </p:nvSpPr>
          <p:spPr>
            <a:xfrm>
              <a:off x="228600" y="276860"/>
              <a:ext cx="457200" cy="457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dirty="0">
                  <a:solidFill>
                    <a:srgbClr val="FFFFFF"/>
                  </a:solidFill>
                  <a:latin typeface="Material Icons"/>
                  <a:ea typeface="Material Icons"/>
                  <a:cs typeface="Material Icons"/>
                  <a:sym typeface="Material Icons"/>
                </a:rPr>
                <a:t>code</a:t>
              </a:r>
              <a:endParaRPr sz="2000" b="0" dirty="0">
                <a:solidFill>
                  <a:srgbClr val="FFFFFF"/>
                </a:solidFill>
                <a:latin typeface="Material Icons"/>
                <a:ea typeface="Material Icons"/>
                <a:cs typeface="Material Icons"/>
                <a:sym typeface="Material Icons"/>
              </a:endParaRPr>
            </a:p>
          </p:txBody>
        </p:sp>
        <p:sp>
          <p:nvSpPr>
            <p:cNvPr id="413" name="Google Shape;413;p18"/>
            <p:cNvSpPr txBox="1"/>
            <p:nvPr/>
          </p:nvSpPr>
          <p:spPr>
            <a:xfrm>
              <a:off x="857250" y="266700"/>
              <a:ext cx="2381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dirty="0">
                  <a:solidFill>
                    <a:srgbClr val="1E2761"/>
                  </a:solidFill>
                  <a:latin typeface="Cambria"/>
                  <a:ea typeface="Cambria"/>
                  <a:cs typeface="Cambria"/>
                  <a:sym typeface="Cambria"/>
                </a:rPr>
                <a:t>Ashpreet Kaur</a:t>
              </a:r>
              <a:endParaRPr sz="1600" b="1" dirty="0">
                <a:solidFill>
                  <a:srgbClr val="1E2761"/>
                </a:solidFill>
                <a:latin typeface="Cambria"/>
                <a:ea typeface="Cambria"/>
                <a:cs typeface="Cambria"/>
                <a:sym typeface="Cambria"/>
              </a:endParaRPr>
            </a:p>
            <a:p>
              <a:pPr marL="0" lvl="0" indent="0" algn="l" rtl="0">
                <a:spcBef>
                  <a:spcPts val="150"/>
                </a:spcBef>
                <a:spcAft>
                  <a:spcPts val="0"/>
                </a:spcAft>
                <a:buNone/>
              </a:pPr>
              <a:endParaRPr lang="en-IN" sz="1100" b="1" dirty="0">
                <a:solidFill>
                  <a:srgbClr val="C89B3C"/>
                </a:solidFill>
                <a:latin typeface="Calibri"/>
                <a:ea typeface="Calibri"/>
                <a:cs typeface="Calibri"/>
                <a:sym typeface="Calibri"/>
              </a:endParaRPr>
            </a:p>
            <a:p>
              <a:pPr lvl="0">
                <a:spcBef>
                  <a:spcPts val="150"/>
                </a:spcBef>
              </a:pPr>
              <a:r>
                <a:rPr lang="en-IN" sz="1150" dirty="0">
                  <a:solidFill>
                    <a:srgbClr val="5B6B8C"/>
                  </a:solidFill>
                  <a:latin typeface="Calibri"/>
                  <a:ea typeface="Calibri"/>
                  <a:cs typeface="Calibri"/>
                  <a:sym typeface="Calibri"/>
                </a:rPr>
                <a:t>https://github.com/Ashpreet06</a:t>
              </a:r>
              <a:endParaRPr sz="1150" dirty="0">
                <a:solidFill>
                  <a:srgbClr val="5B6B8C"/>
                </a:solidFill>
                <a:latin typeface="Calibri"/>
                <a:ea typeface="Calibri"/>
                <a:cs typeface="Calibri"/>
                <a:sym typeface="Calibri"/>
              </a:endParaRPr>
            </a:p>
          </p:txBody>
        </p:sp>
      </p:grpSp>
      <p:grpSp>
        <p:nvGrpSpPr>
          <p:cNvPr id="414" name="Google Shape;414;p18"/>
          <p:cNvGrpSpPr/>
          <p:nvPr/>
        </p:nvGrpSpPr>
        <p:grpSpPr>
          <a:xfrm>
            <a:off x="548640" y="3810000"/>
            <a:ext cx="3467100" cy="1905000"/>
            <a:chOff x="0" y="0"/>
            <a:chExt cx="3467100" cy="1905000"/>
          </a:xfrm>
        </p:grpSpPr>
        <p:sp>
          <p:nvSpPr>
            <p:cNvPr id="415" name="Google Shape;415;p18"/>
            <p:cNvSpPr/>
            <p:nvPr/>
          </p:nvSpPr>
          <p:spPr>
            <a:xfrm>
              <a:off x="0" y="0"/>
              <a:ext cx="3467100" cy="1905000"/>
            </a:xfrm>
            <a:prstGeom prst="roundRect">
              <a:avLst>
                <a:gd name="adj" fmla="val 6000"/>
              </a:avLst>
            </a:prstGeom>
            <a:solidFill>
              <a:srgbClr val="FFFFFF"/>
            </a:solidFill>
            <a:ln w="9525"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6" name="Google Shape;416;p18"/>
            <p:cNvSpPr/>
            <p:nvPr/>
          </p:nvSpPr>
          <p:spPr>
            <a:xfrm>
              <a:off x="228600" y="247650"/>
              <a:ext cx="457200" cy="457200"/>
            </a:xfrm>
            <a:prstGeom prst="ellipse">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7" name="Google Shape;417;p18"/>
            <p:cNvSpPr txBox="1"/>
            <p:nvPr/>
          </p:nvSpPr>
          <p:spPr>
            <a:xfrm>
              <a:off x="228600" y="276860"/>
              <a:ext cx="457200" cy="457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a:solidFill>
                    <a:srgbClr val="FFFFFF"/>
                  </a:solidFill>
                  <a:latin typeface="Material Icons"/>
                  <a:ea typeface="Material Icons"/>
                  <a:cs typeface="Material Icons"/>
                  <a:sym typeface="Material Icons"/>
                </a:rPr>
                <a:t>code</a:t>
              </a:r>
              <a:endParaRPr sz="2000" b="0">
                <a:solidFill>
                  <a:srgbClr val="FFFFFF"/>
                </a:solidFill>
                <a:latin typeface="Material Icons"/>
                <a:ea typeface="Material Icons"/>
                <a:cs typeface="Material Icons"/>
                <a:sym typeface="Material Icons"/>
              </a:endParaRPr>
            </a:p>
          </p:txBody>
        </p:sp>
        <p:sp>
          <p:nvSpPr>
            <p:cNvPr id="418" name="Google Shape;418;p18"/>
            <p:cNvSpPr txBox="1"/>
            <p:nvPr/>
          </p:nvSpPr>
          <p:spPr>
            <a:xfrm>
              <a:off x="857250" y="266700"/>
              <a:ext cx="2381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dirty="0">
                  <a:solidFill>
                    <a:srgbClr val="1E2761"/>
                  </a:solidFill>
                  <a:latin typeface="Cambria"/>
                  <a:ea typeface="Cambria"/>
                  <a:cs typeface="Cambria"/>
                  <a:sym typeface="Cambria"/>
                </a:rPr>
                <a:t>Jashanpreet Kaur</a:t>
              </a:r>
              <a:endParaRPr sz="1600" b="1" dirty="0">
                <a:solidFill>
                  <a:srgbClr val="1E2761"/>
                </a:solidFill>
                <a:latin typeface="Cambria"/>
                <a:ea typeface="Cambria"/>
                <a:cs typeface="Cambria"/>
                <a:sym typeface="Cambria"/>
              </a:endParaRPr>
            </a:p>
            <a:p>
              <a:pPr marL="0" lvl="0" indent="0" algn="l" rtl="0">
                <a:spcBef>
                  <a:spcPts val="150"/>
                </a:spcBef>
                <a:spcAft>
                  <a:spcPts val="0"/>
                </a:spcAft>
                <a:buNone/>
              </a:pPr>
              <a:endParaRPr lang="en-IN" sz="1100" b="1" dirty="0">
                <a:solidFill>
                  <a:srgbClr val="C89B3C"/>
                </a:solidFill>
                <a:latin typeface="Calibri"/>
                <a:ea typeface="Calibri"/>
                <a:cs typeface="Calibri"/>
                <a:sym typeface="Calibri"/>
              </a:endParaRPr>
            </a:p>
            <a:p>
              <a:pPr lvl="0">
                <a:spcBef>
                  <a:spcPts val="150"/>
                </a:spcBef>
              </a:pPr>
              <a:r>
                <a:rPr lang="en-IN" sz="1150" dirty="0">
                  <a:solidFill>
                    <a:srgbClr val="5B6B8C"/>
                  </a:solidFill>
                  <a:latin typeface="Calibri"/>
                  <a:ea typeface="Calibri"/>
                  <a:cs typeface="Calibri"/>
                  <a:sym typeface="Calibri"/>
                </a:rPr>
                <a:t>https://github.com/jashanpreetk2308-create</a:t>
              </a:r>
              <a:endParaRPr sz="1150" dirty="0">
                <a:solidFill>
                  <a:srgbClr val="5B6B8C"/>
                </a:solidFill>
                <a:latin typeface="Calibri"/>
                <a:ea typeface="Calibri"/>
                <a:cs typeface="Calibri"/>
                <a:sym typeface="Calibri"/>
              </a:endParaRPr>
            </a:p>
          </p:txBody>
        </p:sp>
      </p:grpSp>
      <p:grpSp>
        <p:nvGrpSpPr>
          <p:cNvPr id="419" name="Google Shape;419;p18"/>
          <p:cNvGrpSpPr/>
          <p:nvPr/>
        </p:nvGrpSpPr>
        <p:grpSpPr>
          <a:xfrm>
            <a:off x="4358640" y="3810000"/>
            <a:ext cx="3467100" cy="1905000"/>
            <a:chOff x="0" y="0"/>
            <a:chExt cx="3467100" cy="1905000"/>
          </a:xfrm>
        </p:grpSpPr>
        <p:sp>
          <p:nvSpPr>
            <p:cNvPr id="420" name="Google Shape;420;p18"/>
            <p:cNvSpPr/>
            <p:nvPr/>
          </p:nvSpPr>
          <p:spPr>
            <a:xfrm>
              <a:off x="0" y="0"/>
              <a:ext cx="3467100" cy="1905000"/>
            </a:xfrm>
            <a:prstGeom prst="roundRect">
              <a:avLst>
                <a:gd name="adj" fmla="val 6000"/>
              </a:avLst>
            </a:prstGeom>
            <a:solidFill>
              <a:srgbClr val="FFFFFF"/>
            </a:solidFill>
            <a:ln w="9525"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1" name="Google Shape;421;p18"/>
            <p:cNvSpPr/>
            <p:nvPr/>
          </p:nvSpPr>
          <p:spPr>
            <a:xfrm>
              <a:off x="228600" y="247650"/>
              <a:ext cx="457200" cy="457200"/>
            </a:xfrm>
            <a:prstGeom prst="ellipse">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2" name="Google Shape;422;p18"/>
            <p:cNvSpPr txBox="1"/>
            <p:nvPr/>
          </p:nvSpPr>
          <p:spPr>
            <a:xfrm>
              <a:off x="228600" y="276860"/>
              <a:ext cx="457200" cy="457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a:solidFill>
                    <a:srgbClr val="FFFFFF"/>
                  </a:solidFill>
                  <a:latin typeface="Material Icons"/>
                  <a:ea typeface="Material Icons"/>
                  <a:cs typeface="Material Icons"/>
                  <a:sym typeface="Material Icons"/>
                </a:rPr>
                <a:t>code</a:t>
              </a:r>
              <a:endParaRPr sz="2000" b="0">
                <a:solidFill>
                  <a:srgbClr val="FFFFFF"/>
                </a:solidFill>
                <a:latin typeface="Material Icons"/>
                <a:ea typeface="Material Icons"/>
                <a:cs typeface="Material Icons"/>
                <a:sym typeface="Material Icons"/>
              </a:endParaRPr>
            </a:p>
          </p:txBody>
        </p:sp>
        <p:sp>
          <p:nvSpPr>
            <p:cNvPr id="423" name="Google Shape;423;p18"/>
            <p:cNvSpPr txBox="1"/>
            <p:nvPr/>
          </p:nvSpPr>
          <p:spPr>
            <a:xfrm>
              <a:off x="857250" y="266700"/>
              <a:ext cx="2381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dirty="0">
                  <a:solidFill>
                    <a:srgbClr val="1E2761"/>
                  </a:solidFill>
                  <a:latin typeface="Cambria"/>
                  <a:ea typeface="Cambria"/>
                  <a:cs typeface="Cambria"/>
                  <a:sym typeface="Cambria"/>
                </a:rPr>
                <a:t>Aditya Thakur</a:t>
              </a:r>
              <a:endParaRPr sz="1600" b="1" dirty="0">
                <a:solidFill>
                  <a:srgbClr val="1E2761"/>
                </a:solidFill>
                <a:latin typeface="Cambria"/>
                <a:ea typeface="Cambria"/>
                <a:cs typeface="Cambria"/>
                <a:sym typeface="Cambria"/>
              </a:endParaRPr>
            </a:p>
            <a:p>
              <a:pPr marL="0" lvl="0" indent="0" algn="l" rtl="0">
                <a:spcBef>
                  <a:spcPts val="150"/>
                </a:spcBef>
                <a:spcAft>
                  <a:spcPts val="0"/>
                </a:spcAft>
                <a:buNone/>
              </a:pPr>
              <a:endParaRPr lang="en-IN" sz="1100" b="1" dirty="0">
                <a:solidFill>
                  <a:srgbClr val="C89B3C"/>
                </a:solidFill>
                <a:latin typeface="Calibri"/>
                <a:ea typeface="Calibri"/>
                <a:cs typeface="Calibri"/>
                <a:sym typeface="Calibri"/>
              </a:endParaRPr>
            </a:p>
            <a:p>
              <a:pPr lvl="0">
                <a:spcBef>
                  <a:spcPts val="150"/>
                </a:spcBef>
              </a:pPr>
              <a:r>
                <a:rPr lang="en-IN" sz="1150" dirty="0">
                  <a:solidFill>
                    <a:srgbClr val="5B6B8C"/>
                  </a:solidFill>
                  <a:latin typeface="Calibri"/>
                  <a:ea typeface="Calibri"/>
                  <a:cs typeface="Calibri"/>
                  <a:sym typeface="Calibri"/>
                </a:rPr>
                <a:t>https://github.com/Aditya2307-CODER</a:t>
              </a:r>
              <a:endParaRPr sz="1150" dirty="0">
                <a:solidFill>
                  <a:srgbClr val="5B6B8C"/>
                </a:solidFill>
                <a:latin typeface="Calibri"/>
                <a:ea typeface="Calibri"/>
                <a:cs typeface="Calibri"/>
                <a:sym typeface="Calibri"/>
              </a:endParaRPr>
            </a:p>
          </p:txBody>
        </p:sp>
      </p:grpSp>
      <p:grpSp>
        <p:nvGrpSpPr>
          <p:cNvPr id="424" name="Google Shape;424;p18"/>
          <p:cNvGrpSpPr/>
          <p:nvPr/>
        </p:nvGrpSpPr>
        <p:grpSpPr>
          <a:xfrm>
            <a:off x="8168640" y="3810000"/>
            <a:ext cx="3467100" cy="1905000"/>
            <a:chOff x="0" y="0"/>
            <a:chExt cx="3467100" cy="1905000"/>
          </a:xfrm>
        </p:grpSpPr>
        <p:sp>
          <p:nvSpPr>
            <p:cNvPr id="425" name="Google Shape;425;p18"/>
            <p:cNvSpPr/>
            <p:nvPr/>
          </p:nvSpPr>
          <p:spPr>
            <a:xfrm>
              <a:off x="0" y="0"/>
              <a:ext cx="3467100" cy="1905000"/>
            </a:xfrm>
            <a:prstGeom prst="roundRect">
              <a:avLst>
                <a:gd name="adj" fmla="val 6000"/>
              </a:avLst>
            </a:prstGeom>
            <a:solidFill>
              <a:srgbClr val="FFFFFF"/>
            </a:solidFill>
            <a:ln w="9525" cap="flat" cmpd="sng">
              <a:solidFill>
                <a:srgbClr val="D1D5D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6" name="Google Shape;426;p18"/>
            <p:cNvSpPr/>
            <p:nvPr/>
          </p:nvSpPr>
          <p:spPr>
            <a:xfrm>
              <a:off x="228600" y="247650"/>
              <a:ext cx="457200" cy="457200"/>
            </a:xfrm>
            <a:prstGeom prst="ellipse">
              <a:avLst/>
            </a:prstGeom>
            <a:solidFill>
              <a:srgbClr val="1E276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7" name="Google Shape;427;p18"/>
            <p:cNvSpPr txBox="1"/>
            <p:nvPr/>
          </p:nvSpPr>
          <p:spPr>
            <a:xfrm>
              <a:off x="228600" y="276860"/>
              <a:ext cx="457200" cy="457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a:solidFill>
                    <a:srgbClr val="FFFFFF"/>
                  </a:solidFill>
                  <a:latin typeface="Material Icons"/>
                  <a:ea typeface="Material Icons"/>
                  <a:cs typeface="Material Icons"/>
                  <a:sym typeface="Material Icons"/>
                </a:rPr>
                <a:t>code</a:t>
              </a:r>
              <a:endParaRPr sz="2000" b="0">
                <a:solidFill>
                  <a:srgbClr val="FFFFFF"/>
                </a:solidFill>
                <a:latin typeface="Material Icons"/>
                <a:ea typeface="Material Icons"/>
                <a:cs typeface="Material Icons"/>
                <a:sym typeface="Material Icons"/>
              </a:endParaRPr>
            </a:p>
          </p:txBody>
        </p:sp>
        <p:sp>
          <p:nvSpPr>
            <p:cNvPr id="428" name="Google Shape;428;p18"/>
            <p:cNvSpPr txBox="1"/>
            <p:nvPr/>
          </p:nvSpPr>
          <p:spPr>
            <a:xfrm>
              <a:off x="857250" y="266700"/>
              <a:ext cx="2381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dirty="0">
                  <a:solidFill>
                    <a:srgbClr val="1E2761"/>
                  </a:solidFill>
                  <a:latin typeface="Cambria"/>
                  <a:ea typeface="Cambria"/>
                  <a:cs typeface="Cambria"/>
                  <a:sym typeface="Cambria"/>
                </a:rPr>
                <a:t>Gaurav Chawla</a:t>
              </a:r>
              <a:endParaRPr sz="1600" b="1" dirty="0">
                <a:solidFill>
                  <a:srgbClr val="1E2761"/>
                </a:solidFill>
                <a:latin typeface="Cambria"/>
                <a:ea typeface="Cambria"/>
                <a:cs typeface="Cambria"/>
                <a:sym typeface="Cambria"/>
              </a:endParaRPr>
            </a:p>
            <a:p>
              <a:pPr marL="0" lvl="0" indent="0" algn="l" rtl="0">
                <a:spcBef>
                  <a:spcPts val="150"/>
                </a:spcBef>
                <a:spcAft>
                  <a:spcPts val="0"/>
                </a:spcAft>
                <a:buNone/>
              </a:pPr>
              <a:endParaRPr lang="en-IN" sz="1100" b="1" dirty="0">
                <a:solidFill>
                  <a:srgbClr val="C89B3C"/>
                </a:solidFill>
                <a:latin typeface="Calibri"/>
                <a:ea typeface="Calibri"/>
                <a:cs typeface="Calibri"/>
                <a:sym typeface="Calibri"/>
              </a:endParaRPr>
            </a:p>
            <a:p>
              <a:pPr lvl="0">
                <a:spcBef>
                  <a:spcPts val="150"/>
                </a:spcBef>
              </a:pPr>
              <a:r>
                <a:rPr lang="en-IN" sz="1150" dirty="0">
                  <a:solidFill>
                    <a:srgbClr val="5B6B8C"/>
                  </a:solidFill>
                  <a:latin typeface="Calibri"/>
                  <a:ea typeface="Calibri"/>
                  <a:cs typeface="Calibri"/>
                  <a:sym typeface="Calibri"/>
                </a:rPr>
                <a:t>https://github.com/gaurav2594bbafai25-ui</a:t>
              </a:r>
              <a:endParaRPr sz="1150" dirty="0">
                <a:solidFill>
                  <a:srgbClr val="5B6B8C"/>
                </a:solidFill>
                <a:latin typeface="Calibri"/>
                <a:ea typeface="Calibri"/>
                <a:cs typeface="Calibri"/>
                <a:sym typeface="Calibri"/>
              </a:endParaRPr>
            </a:p>
          </p:txBody>
        </p:sp>
      </p:grpSp>
      <p:grpSp>
        <p:nvGrpSpPr>
          <p:cNvPr id="429" name="Google Shape;429;p18"/>
          <p:cNvGrpSpPr/>
          <p:nvPr/>
        </p:nvGrpSpPr>
        <p:grpSpPr>
          <a:xfrm>
            <a:off x="457200" y="6473952"/>
            <a:ext cx="5486400" cy="274200"/>
            <a:chOff x="0" y="0"/>
            <a:chExt cx="5486400" cy="274200"/>
          </a:xfrm>
        </p:grpSpPr>
        <p:sp>
          <p:nvSpPr>
            <p:cNvPr id="430" name="Google Shape;430;p18"/>
            <p:cNvSpPr/>
            <p:nvPr/>
          </p:nvSpPr>
          <p:spPr>
            <a:xfrm>
              <a:off x="0" y="0"/>
              <a:ext cx="5486400" cy="274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1" name="Google Shape;431;p18"/>
            <p:cNvSpPr txBox="1"/>
            <p:nvPr/>
          </p:nvSpPr>
          <p:spPr>
            <a:xfrm>
              <a:off x="0" y="0"/>
              <a:ext cx="5486400" cy="274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900">
                  <a:solidFill>
                    <a:srgbClr val="A0AAC8"/>
                  </a:solidFill>
                  <a:latin typeface="Calibri"/>
                  <a:ea typeface="Calibri"/>
                  <a:cs typeface="Calibri"/>
                  <a:sym typeface="Calibri"/>
                </a:rPr>
                <a:t>AI for Credit Risk Assessment in NBFC Lending</a:t>
              </a:r>
              <a:endParaRPr sz="900">
                <a:solidFill>
                  <a:srgbClr val="A0AAC8"/>
                </a:solidFill>
                <a:latin typeface="Calibri"/>
                <a:ea typeface="Calibri"/>
                <a:cs typeface="Calibri"/>
                <a:sym typeface="Calibri"/>
              </a:endParaRPr>
            </a:p>
          </p:txBody>
        </p:sp>
      </p:grpSp>
      <p:grpSp>
        <p:nvGrpSpPr>
          <p:cNvPr id="432" name="Google Shape;432;p18"/>
          <p:cNvGrpSpPr/>
          <p:nvPr/>
        </p:nvGrpSpPr>
        <p:grpSpPr>
          <a:xfrm>
            <a:off x="11475720" y="6473952"/>
            <a:ext cx="457200" cy="274200"/>
            <a:chOff x="0" y="0"/>
            <a:chExt cx="457200" cy="274200"/>
          </a:xfrm>
        </p:grpSpPr>
        <p:sp>
          <p:nvSpPr>
            <p:cNvPr id="433" name="Google Shape;433;p18"/>
            <p:cNvSpPr/>
            <p:nvPr/>
          </p:nvSpPr>
          <p:spPr>
            <a:xfrm>
              <a:off x="0" y="0"/>
              <a:ext cx="457200" cy="274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4" name="Google Shape;434;p18"/>
            <p:cNvSpPr txBox="1"/>
            <p:nvPr/>
          </p:nvSpPr>
          <p:spPr>
            <a:xfrm>
              <a:off x="0" y="0"/>
              <a:ext cx="457200" cy="2742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000">
                  <a:solidFill>
                    <a:srgbClr val="5B6B8C"/>
                  </a:solidFill>
                  <a:latin typeface="Calibri"/>
                  <a:ea typeface="Calibri"/>
                  <a:cs typeface="Calibri"/>
                  <a:sym typeface="Calibri"/>
                </a:rPr>
                <a:t>16</a:t>
              </a:r>
              <a:endParaRPr sz="1000">
                <a:solidFill>
                  <a:srgbClr val="5B6B8C"/>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FDCDE8EC-3D24-6AF3-349C-12C0FC223B0A}"/>
              </a:ext>
            </a:extLst>
          </p:cNvPr>
          <p:cNvPicPr>
            <a:picLocks noChangeAspect="1"/>
          </p:cNvPicPr>
          <p:nvPr/>
        </p:nvPicPr>
        <p:blipFill>
          <a:blip r:embed="rId3"/>
          <a:stretch>
            <a:fillRect/>
          </a:stretch>
        </p:blipFill>
        <p:spPr>
          <a:xfrm>
            <a:off x="746343" y="1819596"/>
            <a:ext cx="573822" cy="573822"/>
          </a:xfrm>
          <a:prstGeom prst="rect">
            <a:avLst/>
          </a:prstGeom>
        </p:spPr>
      </p:pic>
      <p:pic>
        <p:nvPicPr>
          <p:cNvPr id="5" name="Picture 4">
            <a:extLst>
              <a:ext uri="{FF2B5EF4-FFF2-40B4-BE49-F238E27FC236}">
                <a16:creationId xmlns:a16="http://schemas.microsoft.com/office/drawing/2014/main" id="{8BBF85B7-5FC4-102C-D235-5399AB5D4B7A}"/>
              </a:ext>
            </a:extLst>
          </p:cNvPr>
          <p:cNvPicPr>
            <a:picLocks noChangeAspect="1"/>
          </p:cNvPicPr>
          <p:nvPr/>
        </p:nvPicPr>
        <p:blipFill>
          <a:blip r:embed="rId3"/>
          <a:stretch>
            <a:fillRect/>
          </a:stretch>
        </p:blipFill>
        <p:spPr>
          <a:xfrm>
            <a:off x="4502794" y="1811216"/>
            <a:ext cx="573822" cy="573822"/>
          </a:xfrm>
          <a:prstGeom prst="rect">
            <a:avLst/>
          </a:prstGeom>
        </p:spPr>
      </p:pic>
      <p:pic>
        <p:nvPicPr>
          <p:cNvPr id="7" name="Picture 6">
            <a:extLst>
              <a:ext uri="{FF2B5EF4-FFF2-40B4-BE49-F238E27FC236}">
                <a16:creationId xmlns:a16="http://schemas.microsoft.com/office/drawing/2014/main" id="{C8F6DCE9-CDD8-5224-91A9-B3CDD7AD4A9E}"/>
              </a:ext>
            </a:extLst>
          </p:cNvPr>
          <p:cNvPicPr>
            <a:picLocks noChangeAspect="1"/>
          </p:cNvPicPr>
          <p:nvPr/>
        </p:nvPicPr>
        <p:blipFill>
          <a:blip r:embed="rId3"/>
          <a:stretch>
            <a:fillRect/>
          </a:stretch>
        </p:blipFill>
        <p:spPr>
          <a:xfrm>
            <a:off x="746343" y="3992572"/>
            <a:ext cx="573822" cy="573822"/>
          </a:xfrm>
          <a:prstGeom prst="rect">
            <a:avLst/>
          </a:prstGeom>
        </p:spPr>
      </p:pic>
      <p:pic>
        <p:nvPicPr>
          <p:cNvPr id="9" name="Picture 8">
            <a:extLst>
              <a:ext uri="{FF2B5EF4-FFF2-40B4-BE49-F238E27FC236}">
                <a16:creationId xmlns:a16="http://schemas.microsoft.com/office/drawing/2014/main" id="{1E558528-0CCE-BD65-EC19-19DE2989B4D7}"/>
              </a:ext>
            </a:extLst>
          </p:cNvPr>
          <p:cNvPicPr>
            <a:picLocks noChangeAspect="1"/>
          </p:cNvPicPr>
          <p:nvPr/>
        </p:nvPicPr>
        <p:blipFill>
          <a:blip r:embed="rId3"/>
          <a:stretch>
            <a:fillRect/>
          </a:stretch>
        </p:blipFill>
        <p:spPr>
          <a:xfrm>
            <a:off x="8397240" y="3999339"/>
            <a:ext cx="573822" cy="573822"/>
          </a:xfrm>
          <a:prstGeom prst="rect">
            <a:avLst/>
          </a:prstGeom>
        </p:spPr>
      </p:pic>
      <p:pic>
        <p:nvPicPr>
          <p:cNvPr id="11" name="Picture 10">
            <a:extLst>
              <a:ext uri="{FF2B5EF4-FFF2-40B4-BE49-F238E27FC236}">
                <a16:creationId xmlns:a16="http://schemas.microsoft.com/office/drawing/2014/main" id="{ABF89429-FCFF-0911-9D42-FD472FD8EB27}"/>
              </a:ext>
            </a:extLst>
          </p:cNvPr>
          <p:cNvPicPr>
            <a:picLocks noChangeAspect="1"/>
          </p:cNvPicPr>
          <p:nvPr/>
        </p:nvPicPr>
        <p:blipFill>
          <a:blip r:embed="rId3"/>
          <a:stretch>
            <a:fillRect/>
          </a:stretch>
        </p:blipFill>
        <p:spPr>
          <a:xfrm>
            <a:off x="4502794" y="3961179"/>
            <a:ext cx="573822" cy="573822"/>
          </a:xfrm>
          <a:prstGeom prst="rect">
            <a:avLst/>
          </a:prstGeom>
        </p:spPr>
      </p:pic>
      <p:pic>
        <p:nvPicPr>
          <p:cNvPr id="13" name="Picture 12">
            <a:extLst>
              <a:ext uri="{FF2B5EF4-FFF2-40B4-BE49-F238E27FC236}">
                <a16:creationId xmlns:a16="http://schemas.microsoft.com/office/drawing/2014/main" id="{26705A51-92C3-2EBE-0101-4CDE9FF97E6D}"/>
              </a:ext>
            </a:extLst>
          </p:cNvPr>
          <p:cNvPicPr>
            <a:picLocks noChangeAspect="1"/>
          </p:cNvPicPr>
          <p:nvPr/>
        </p:nvPicPr>
        <p:blipFill>
          <a:blip r:embed="rId3"/>
          <a:stretch>
            <a:fillRect/>
          </a:stretch>
        </p:blipFill>
        <p:spPr>
          <a:xfrm>
            <a:off x="8310354" y="1811216"/>
            <a:ext cx="573822" cy="5738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1547</Words>
  <Application>Microsoft Office PowerPoint</Application>
  <PresentationFormat>Widescreen</PresentationFormat>
  <Paragraphs>255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Material Icons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Aditya Thakur</cp:lastModifiedBy>
  <cp:revision>4</cp:revision>
  <dcterms:modified xsi:type="dcterms:W3CDTF">2026-09-16T19:57:22Z</dcterms:modified>
</cp:coreProperties>
</file>